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0" r:id="rId1"/>
  </p:sldMasterIdLst>
  <p:sldIdLst>
    <p:sldId id="256" r:id="rId2"/>
    <p:sldId id="259" r:id="rId3"/>
    <p:sldId id="258" r:id="rId4"/>
    <p:sldId id="261" r:id="rId5"/>
    <p:sldId id="262" r:id="rId6"/>
    <p:sldId id="260" r:id="rId7"/>
    <p:sldId id="263" r:id="rId8"/>
    <p:sldId id="264" r:id="rId9"/>
    <p:sldId id="265" r:id="rId10"/>
    <p:sldId id="268" r:id="rId11"/>
    <p:sldId id="266" r:id="rId12"/>
    <p:sldId id="269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CD6"/>
    <a:srgbClr val="FFFFFF"/>
    <a:srgbClr val="37445C"/>
    <a:srgbClr val="12B7D6"/>
    <a:srgbClr val="F2A20A"/>
    <a:srgbClr val="20C4B3"/>
    <a:srgbClr val="39CDE7"/>
    <a:srgbClr val="4361EE"/>
    <a:srgbClr val="7F5AF0"/>
    <a:srgbClr val="D9A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ce Papp" userId="051ce0fd6778e473" providerId="LiveId" clId="{AB849B09-6DAF-4C55-864C-173FF297B6B0}"/>
    <pc:docChg chg="undo custSel modSld">
      <pc:chgData name="Bence Papp" userId="051ce0fd6778e473" providerId="LiveId" clId="{AB849B09-6DAF-4C55-864C-173FF297B6B0}" dt="2026-04-17T09:20:02.526" v="175" actId="14100"/>
      <pc:docMkLst>
        <pc:docMk/>
      </pc:docMkLst>
      <pc:sldChg chg="modSp mod">
        <pc:chgData name="Bence Papp" userId="051ce0fd6778e473" providerId="LiveId" clId="{AB849B09-6DAF-4C55-864C-173FF297B6B0}" dt="2026-04-17T08:47:44.431" v="40" actId="27636"/>
        <pc:sldMkLst>
          <pc:docMk/>
          <pc:sldMk cId="1844013892" sldId="258"/>
        </pc:sldMkLst>
        <pc:spChg chg="mod">
          <ac:chgData name="Bence Papp" userId="051ce0fd6778e473" providerId="LiveId" clId="{AB849B09-6DAF-4C55-864C-173FF297B6B0}" dt="2026-04-17T08:47:44.431" v="40" actId="27636"/>
          <ac:spMkLst>
            <pc:docMk/>
            <pc:sldMk cId="1844013892" sldId="258"/>
            <ac:spMk id="4" creationId="{3E7E9B50-11AF-4701-B0C2-EFEF5BDD8B7C}"/>
          </ac:spMkLst>
        </pc:spChg>
        <pc:spChg chg="mod">
          <ac:chgData name="Bence Papp" userId="051ce0fd6778e473" providerId="LiveId" clId="{AB849B09-6DAF-4C55-864C-173FF297B6B0}" dt="2026-04-17T08:47:44.427" v="39" actId="27636"/>
          <ac:spMkLst>
            <pc:docMk/>
            <pc:sldMk cId="1844013892" sldId="258"/>
            <ac:spMk id="6" creationId="{404926F9-B5D5-68C6-DB54-AB891FA1D7FC}"/>
          </ac:spMkLst>
        </pc:spChg>
      </pc:sldChg>
      <pc:sldChg chg="addSp delSp modSp mod modClrScheme chgLayout">
        <pc:chgData name="Bence Papp" userId="051ce0fd6778e473" providerId="LiveId" clId="{AB849B09-6DAF-4C55-864C-173FF297B6B0}" dt="2026-04-17T09:20:02.526" v="175" actId="14100"/>
        <pc:sldMkLst>
          <pc:docMk/>
          <pc:sldMk cId="1355224017" sldId="260"/>
        </pc:sldMkLst>
        <pc:spChg chg="mod ord">
          <ac:chgData name="Bence Papp" userId="051ce0fd6778e473" providerId="LiveId" clId="{AB849B09-6DAF-4C55-864C-173FF297B6B0}" dt="2026-04-17T09:15:36.059" v="41" actId="700"/>
          <ac:spMkLst>
            <pc:docMk/>
            <pc:sldMk cId="1355224017" sldId="260"/>
            <ac:spMk id="2" creationId="{05E444FF-C496-B53A-6BE3-BA0DCC0306C2}"/>
          </ac:spMkLst>
        </pc:spChg>
        <pc:spChg chg="del">
          <ac:chgData name="Bence Papp" userId="051ce0fd6778e473" providerId="LiveId" clId="{AB849B09-6DAF-4C55-864C-173FF297B6B0}" dt="2026-04-17T09:15:36.059" v="41" actId="700"/>
          <ac:spMkLst>
            <pc:docMk/>
            <pc:sldMk cId="1355224017" sldId="260"/>
            <ac:spMk id="3" creationId="{F1914FD7-8A72-BAF6-FA28-1DF388837EAC}"/>
          </ac:spMkLst>
        </pc:spChg>
        <pc:spChg chg="add">
          <ac:chgData name="Bence Papp" userId="051ce0fd6778e473" providerId="LiveId" clId="{AB849B09-6DAF-4C55-864C-173FF297B6B0}" dt="2026-04-17T09:15:40.972" v="42" actId="11529"/>
          <ac:spMkLst>
            <pc:docMk/>
            <pc:sldMk cId="1355224017" sldId="260"/>
            <ac:spMk id="4" creationId="{CD61794A-C596-3789-83F6-FD0DD3BEA9C8}"/>
          </ac:spMkLst>
        </pc:spChg>
        <pc:spChg chg="add mod">
          <ac:chgData name="Bence Papp" userId="051ce0fd6778e473" providerId="LiveId" clId="{AB849B09-6DAF-4C55-864C-173FF297B6B0}" dt="2026-04-17T09:20:02.526" v="175" actId="14100"/>
          <ac:spMkLst>
            <pc:docMk/>
            <pc:sldMk cId="1355224017" sldId="260"/>
            <ac:spMk id="5" creationId="{C8D74DE0-E844-FEE9-441E-B619C875AB0B}"/>
          </ac:spMkLst>
        </pc:spChg>
        <pc:spChg chg="add mod">
          <ac:chgData name="Bence Papp" userId="051ce0fd6778e473" providerId="LiveId" clId="{AB849B09-6DAF-4C55-864C-173FF297B6B0}" dt="2026-04-17T09:16:14.206" v="49" actId="14100"/>
          <ac:spMkLst>
            <pc:docMk/>
            <pc:sldMk cId="1355224017" sldId="260"/>
            <ac:spMk id="6" creationId="{6E8791B0-2B75-DAAB-CB8C-E7E3C9AD7D1B}"/>
          </ac:spMkLst>
        </pc:spChg>
        <pc:spChg chg="add mod">
          <ac:chgData name="Bence Papp" userId="051ce0fd6778e473" providerId="LiveId" clId="{AB849B09-6DAF-4C55-864C-173FF297B6B0}" dt="2026-04-17T09:16:11.429" v="48" actId="1076"/>
          <ac:spMkLst>
            <pc:docMk/>
            <pc:sldMk cId="1355224017" sldId="260"/>
            <ac:spMk id="7" creationId="{5677FE46-D85F-824B-B71B-EF2A418EC3B3}"/>
          </ac:spMkLst>
        </pc:spChg>
        <pc:spChg chg="add mod">
          <ac:chgData name="Bence Papp" userId="051ce0fd6778e473" providerId="LiveId" clId="{AB849B09-6DAF-4C55-864C-173FF297B6B0}" dt="2026-04-17T09:17:27.359" v="89" actId="20577"/>
          <ac:spMkLst>
            <pc:docMk/>
            <pc:sldMk cId="1355224017" sldId="260"/>
            <ac:spMk id="8" creationId="{03262643-9853-4128-FC70-4905ACFC403D}"/>
          </ac:spMkLst>
        </pc:spChg>
        <pc:spChg chg="add mod">
          <ac:chgData name="Bence Papp" userId="051ce0fd6778e473" providerId="LiveId" clId="{AB849B09-6DAF-4C55-864C-173FF297B6B0}" dt="2026-04-17T09:17:25.296" v="88" actId="122"/>
          <ac:spMkLst>
            <pc:docMk/>
            <pc:sldMk cId="1355224017" sldId="260"/>
            <ac:spMk id="9" creationId="{075B8A81-D7D1-9AE3-3726-8311FB091174}"/>
          </ac:spMkLst>
        </pc:spChg>
        <pc:spChg chg="add mod">
          <ac:chgData name="Bence Papp" userId="051ce0fd6778e473" providerId="LiveId" clId="{AB849B09-6DAF-4C55-864C-173FF297B6B0}" dt="2026-04-17T09:17:44.683" v="97" actId="122"/>
          <ac:spMkLst>
            <pc:docMk/>
            <pc:sldMk cId="1355224017" sldId="260"/>
            <ac:spMk id="10" creationId="{D680669C-5A6A-F1C5-4305-B9BDDFAAB9BC}"/>
          </ac:spMkLst>
        </pc:spChg>
        <pc:spChg chg="add mod">
          <ac:chgData name="Bence Papp" userId="051ce0fd6778e473" providerId="LiveId" clId="{AB849B09-6DAF-4C55-864C-173FF297B6B0}" dt="2026-04-17T09:18:26.315" v="115" actId="122"/>
          <ac:spMkLst>
            <pc:docMk/>
            <pc:sldMk cId="1355224017" sldId="260"/>
            <ac:spMk id="11" creationId="{F54B443C-5FF5-DFA2-4B97-58984F7D9011}"/>
          </ac:spMkLst>
        </pc:spChg>
        <pc:spChg chg="add mod">
          <ac:chgData name="Bence Papp" userId="051ce0fd6778e473" providerId="LiveId" clId="{AB849B09-6DAF-4C55-864C-173FF297B6B0}" dt="2026-04-17T09:19:25.688" v="174" actId="20577"/>
          <ac:spMkLst>
            <pc:docMk/>
            <pc:sldMk cId="1355224017" sldId="260"/>
            <ac:spMk id="12" creationId="{04683C47-604A-74CF-49C2-6BF7688DA5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769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755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291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386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360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021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217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252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870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324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9245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07501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1465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5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1880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0276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451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E4B8B-7737-4E7E-99A8-DD98AF86A67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E2854-F816-47CC-AE3E-9E436F1AB2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6529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BB9F4C-B91F-8CF6-9F02-DBC3BDBB14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Értékmentő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B0E8B23-4089-4209-4620-DC3074245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775039"/>
            <a:ext cx="8144134" cy="1117687"/>
          </a:xfrm>
        </p:spPr>
        <p:txBody>
          <a:bodyPr/>
          <a:lstStyle/>
          <a:p>
            <a:r>
              <a:rPr lang="hu-HU" dirty="0"/>
              <a:t>Vizsgaremek bemutató – 2026</a:t>
            </a:r>
          </a:p>
          <a:p>
            <a:r>
              <a:rPr lang="hu-HU" dirty="0"/>
              <a:t>Fejlesztők: Kemény Benedek, Papp Bence</a:t>
            </a:r>
          </a:p>
        </p:txBody>
      </p:sp>
    </p:spTree>
    <p:extLst>
      <p:ext uri="{BB962C8B-B14F-4D97-AF65-F5344CB8AC3E}">
        <p14:creationId xmlns:p14="http://schemas.microsoft.com/office/powerpoint/2010/main" val="886033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79AD55-F5D0-336E-8656-588514F4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az Értékmentő?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76B518-90F3-C9FC-4811-FFA0B83B0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dirty="0"/>
              <a:t>Az Értékmentő egy olyan webalkalmazás, amely a még használható tárgyak továbbadását támogatja, jótékonysági szemlélettel.</a:t>
            </a:r>
          </a:p>
          <a:p>
            <a:r>
              <a:rPr lang="hu-HU" dirty="0"/>
              <a:t>A rendszer célja, hogy ezek az értékek ne vesszenek kárba, hanem szervezett módon jussanak el azokhoz, akiknek valóban szükségük van rájuk. </a:t>
            </a:r>
          </a:p>
          <a:p>
            <a:r>
              <a:rPr lang="hu-HU" dirty="0"/>
              <a:t>Az alkalmazás kezeli a felhasználókat, a kéréseket és az adminisztrációs folyamatokat is.</a:t>
            </a:r>
          </a:p>
          <a:p>
            <a:r>
              <a:rPr lang="hu-HU" dirty="0"/>
              <a:t>Emellett valós idejű kommunikációt is biztosít a felhasználók között.</a:t>
            </a:r>
          </a:p>
        </p:txBody>
      </p:sp>
    </p:spTree>
    <p:extLst>
      <p:ext uri="{BB962C8B-B14F-4D97-AF65-F5344CB8AC3E}">
        <p14:creationId xmlns:p14="http://schemas.microsoft.com/office/powerpoint/2010/main" val="306562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4ED4DB-5F2F-8807-B50D-C3B17428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Honnan jött az ötlet?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6BFA205-6B00-C651-C0DD-045B7E009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Probléma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E7E9B50-11AF-4701-B0C2-EFEF5BDD8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36634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hu-HU" dirty="0"/>
              <a:t>Sok használható tárgy nem jut el azokhoz, akiknek szükségük lenne rá.</a:t>
            </a:r>
          </a:p>
          <a:p>
            <a:pPr>
              <a:spcAft>
                <a:spcPts val="1200"/>
              </a:spcAft>
            </a:pPr>
            <a:r>
              <a:rPr lang="hu-HU" dirty="0"/>
              <a:t>A felajánlások kezelése gyakran átláthatatlan és kevéssé szervezett</a:t>
            </a:r>
            <a:r>
              <a:rPr lang="hu-HU" b="1" dirty="0"/>
              <a:t>.</a:t>
            </a:r>
            <a:endParaRPr lang="hu-HU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5ED4A2F-E33D-E539-1E45-457B64E28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u-HU" dirty="0"/>
              <a:t>Megoldás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04926F9-B5D5-68C6-DB54-AB891FA1D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3736552"/>
          </a:xfrm>
        </p:spPr>
        <p:txBody>
          <a:bodyPr>
            <a:normAutofit/>
          </a:bodyPr>
          <a:lstStyle/>
          <a:p>
            <a:r>
              <a:rPr lang="hu-HU" dirty="0"/>
              <a:t>Az Értékmentő egy webalkalmazás, amely szervezett keretek között köti össze a használható tárgyakat felajánlókat az igénylőkkel, kezelve a köztük zajló kommunikációt és adminisztrációt is.</a:t>
            </a:r>
          </a:p>
        </p:txBody>
      </p:sp>
    </p:spTree>
    <p:extLst>
      <p:ext uri="{BB962C8B-B14F-4D97-AF65-F5344CB8AC3E}">
        <p14:creationId xmlns:p14="http://schemas.microsoft.com/office/powerpoint/2010/main" val="18440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E94109-8C68-C211-06E5-748D3E16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Felépítés</a:t>
            </a:r>
          </a:p>
        </p:txBody>
      </p: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4C69673C-96B7-CF0E-34F2-34030637D6CD}"/>
              </a:ext>
            </a:extLst>
          </p:cNvPr>
          <p:cNvGrpSpPr/>
          <p:nvPr/>
        </p:nvGrpSpPr>
        <p:grpSpPr>
          <a:xfrm>
            <a:off x="7237189" y="2120659"/>
            <a:ext cx="4782518" cy="4610537"/>
            <a:chOff x="7291892" y="2139513"/>
            <a:chExt cx="4782518" cy="4610537"/>
          </a:xfrm>
        </p:grpSpPr>
        <p:pic>
          <p:nvPicPr>
            <p:cNvPr id="61" name="Kép 60">
              <a:extLst>
                <a:ext uri="{FF2B5EF4-FFF2-40B4-BE49-F238E27FC236}">
                  <a16:creationId xmlns:a16="http://schemas.microsoft.com/office/drawing/2014/main" id="{B2B3F1F5-F035-E0A2-19D7-93C94D360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1892" y="2139513"/>
              <a:ext cx="4782518" cy="4610537"/>
            </a:xfrm>
            <a:prstGeom prst="rect">
              <a:avLst/>
            </a:prstGeom>
          </p:spPr>
        </p:pic>
        <p:sp>
          <p:nvSpPr>
            <p:cNvPr id="64" name="Szövegdoboz 63">
              <a:extLst>
                <a:ext uri="{FF2B5EF4-FFF2-40B4-BE49-F238E27FC236}">
                  <a16:creationId xmlns:a16="http://schemas.microsoft.com/office/drawing/2014/main" id="{4D7572E1-40C9-20CF-933B-6688F8BAC04D}"/>
                </a:ext>
              </a:extLst>
            </p:cNvPr>
            <p:cNvSpPr txBox="1"/>
            <p:nvPr/>
          </p:nvSpPr>
          <p:spPr>
            <a:xfrm>
              <a:off x="7427529" y="2244447"/>
              <a:ext cx="4572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Technológia</a:t>
              </a:r>
              <a:r>
                <a: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fókuszpontok</a:t>
              </a: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6" name="Folyamatábra: Befejezés 85">
              <a:extLst>
                <a:ext uri="{FF2B5EF4-FFF2-40B4-BE49-F238E27FC236}">
                  <a16:creationId xmlns:a16="http://schemas.microsoft.com/office/drawing/2014/main" id="{CCC82EA3-E857-7309-A68C-2480183638C6}"/>
                </a:ext>
              </a:extLst>
            </p:cNvPr>
            <p:cNvSpPr/>
            <p:nvPr/>
          </p:nvSpPr>
          <p:spPr>
            <a:xfrm>
              <a:off x="7620165" y="2782595"/>
              <a:ext cx="921724" cy="294777"/>
            </a:xfrm>
            <a:prstGeom prst="flowChartTerminator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/>
                <a:t>.Net 8</a:t>
              </a:r>
            </a:p>
          </p:txBody>
        </p:sp>
        <p:sp>
          <p:nvSpPr>
            <p:cNvPr id="87" name="Folyamatábra: Befejezés 86">
              <a:extLst>
                <a:ext uri="{FF2B5EF4-FFF2-40B4-BE49-F238E27FC236}">
                  <a16:creationId xmlns:a16="http://schemas.microsoft.com/office/drawing/2014/main" id="{7F203E49-E8B7-7C22-443A-DE537F092E37}"/>
                </a:ext>
              </a:extLst>
            </p:cNvPr>
            <p:cNvSpPr/>
            <p:nvPr/>
          </p:nvSpPr>
          <p:spPr>
            <a:xfrm>
              <a:off x="8870162" y="2719891"/>
              <a:ext cx="2680392" cy="429282"/>
            </a:xfrm>
            <a:prstGeom prst="flowChartTerminator">
              <a:avLst/>
            </a:prstGeom>
            <a:solidFill>
              <a:srgbClr val="20C4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 err="1"/>
                <a:t>Entity</a:t>
              </a:r>
              <a:r>
                <a:rPr lang="hu-HU" sz="1600" dirty="0"/>
                <a:t> Framework </a:t>
              </a:r>
              <a:r>
                <a:rPr lang="hu-HU" sz="1600" dirty="0" err="1"/>
                <a:t>Core</a:t>
              </a:r>
              <a:endParaRPr lang="hu-HU" sz="1600" dirty="0"/>
            </a:p>
          </p:txBody>
        </p:sp>
        <p:sp>
          <p:nvSpPr>
            <p:cNvPr id="89" name="Folyamatábra: Befejezés 88">
              <a:extLst>
                <a:ext uri="{FF2B5EF4-FFF2-40B4-BE49-F238E27FC236}">
                  <a16:creationId xmlns:a16="http://schemas.microsoft.com/office/drawing/2014/main" id="{BD3D0E54-8679-38F5-BC98-285F7B8C88BD}"/>
                </a:ext>
              </a:extLst>
            </p:cNvPr>
            <p:cNvSpPr/>
            <p:nvPr/>
          </p:nvSpPr>
          <p:spPr>
            <a:xfrm>
              <a:off x="7652789" y="3241751"/>
              <a:ext cx="1375628" cy="335507"/>
            </a:xfrm>
            <a:prstGeom prst="flowChartTerminator">
              <a:avLst/>
            </a:prstGeom>
            <a:solidFill>
              <a:srgbClr val="F2A20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/>
                <a:t>JWT </a:t>
              </a:r>
              <a:r>
                <a:rPr lang="hu-HU" sz="1600" dirty="0" err="1"/>
                <a:t>Bearer</a:t>
              </a:r>
              <a:endParaRPr lang="hu-HU" sz="1600" dirty="0"/>
            </a:p>
          </p:txBody>
        </p:sp>
        <p:sp>
          <p:nvSpPr>
            <p:cNvPr id="90" name="Folyamatábra: Befejezés 89">
              <a:extLst>
                <a:ext uri="{FF2B5EF4-FFF2-40B4-BE49-F238E27FC236}">
                  <a16:creationId xmlns:a16="http://schemas.microsoft.com/office/drawing/2014/main" id="{B1F4CA84-DD5D-D855-6AF9-F77FCEEAE27D}"/>
                </a:ext>
              </a:extLst>
            </p:cNvPr>
            <p:cNvSpPr/>
            <p:nvPr/>
          </p:nvSpPr>
          <p:spPr>
            <a:xfrm>
              <a:off x="10399604" y="3281611"/>
              <a:ext cx="1155479" cy="294777"/>
            </a:xfrm>
            <a:prstGeom prst="flowChartTerminator">
              <a:avLst/>
            </a:prstGeom>
            <a:solidFill>
              <a:srgbClr val="37445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 err="1"/>
                <a:t>Swagger</a:t>
              </a:r>
              <a:endParaRPr lang="hu-HU" sz="1600" dirty="0"/>
            </a:p>
          </p:txBody>
        </p:sp>
        <p:sp>
          <p:nvSpPr>
            <p:cNvPr id="91" name="Folyamatábra: Befejezés 90">
              <a:extLst>
                <a:ext uri="{FF2B5EF4-FFF2-40B4-BE49-F238E27FC236}">
                  <a16:creationId xmlns:a16="http://schemas.microsoft.com/office/drawing/2014/main" id="{B806DD7F-11FD-0BA2-52E8-08C3A22F7DCA}"/>
                </a:ext>
              </a:extLst>
            </p:cNvPr>
            <p:cNvSpPr/>
            <p:nvPr/>
          </p:nvSpPr>
          <p:spPr>
            <a:xfrm>
              <a:off x="9118370" y="3281611"/>
              <a:ext cx="1191280" cy="294777"/>
            </a:xfrm>
            <a:prstGeom prst="flowChartTerminator">
              <a:avLst/>
            </a:prstGeom>
            <a:solidFill>
              <a:srgbClr val="12B7D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600" dirty="0" err="1"/>
                <a:t>SignalR</a:t>
              </a:r>
              <a:endParaRPr lang="hu-HU" sz="1600" dirty="0"/>
            </a:p>
          </p:txBody>
        </p:sp>
        <p:sp>
          <p:nvSpPr>
            <p:cNvPr id="95" name="Szövegdoboz 94">
              <a:extLst>
                <a:ext uri="{FF2B5EF4-FFF2-40B4-BE49-F238E27FC236}">
                  <a16:creationId xmlns:a16="http://schemas.microsoft.com/office/drawing/2014/main" id="{7EC9ADB2-1C79-900F-E2FB-B03910B08537}"/>
                </a:ext>
              </a:extLst>
            </p:cNvPr>
            <p:cNvSpPr txBox="1"/>
            <p:nvPr/>
          </p:nvSpPr>
          <p:spPr>
            <a:xfrm>
              <a:off x="7506742" y="3878920"/>
              <a:ext cx="4334255" cy="252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1200"/>
                </a:spcAft>
                <a:buSzPct val="100000"/>
                <a:buChar char="•"/>
              </a:pP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külön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web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és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API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projekt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-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jól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bemutatható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frontend/backend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határ</a:t>
              </a:r>
              <a:endParaRPr lang="en-US" sz="1600" dirty="0">
                <a:latin typeface="+mj-lt"/>
              </a:endParaRPr>
            </a:p>
            <a:p>
              <a:pPr marL="342900" indent="-342900">
                <a:spcAft>
                  <a:spcPts val="12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service + repository +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UnitOfWork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minta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-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tisztább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felelősségmegosztás</a:t>
              </a:r>
              <a:endParaRPr lang="en-US" sz="1600" dirty="0">
                <a:latin typeface="+mj-lt"/>
              </a:endParaRPr>
            </a:p>
            <a:p>
              <a:pPr marL="342900" indent="-342900">
                <a:spcAft>
                  <a:spcPts val="1200"/>
                </a:spcAft>
                <a:buSzPct val="100000"/>
                <a:buChar char="•"/>
              </a:pP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SignalR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hub -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valós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idejű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kommunikáció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a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chathez</a:t>
              </a:r>
              <a:endParaRPr lang="en-US" sz="1600" dirty="0">
                <a:latin typeface="+mj-lt"/>
              </a:endParaRPr>
            </a:p>
            <a:p>
              <a:pPr marL="342900" indent="-342900">
                <a:spcAft>
                  <a:spcPts val="1200"/>
                </a:spcAft>
                <a:buSzPct val="100000"/>
                <a:buChar char="•"/>
              </a:pP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DbContext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és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entitások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-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relációs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adatmodell</a:t>
              </a:r>
              <a:r>
                <a:rPr lang="en-US" sz="1600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 EF Core-on </a:t>
              </a:r>
              <a:r>
                <a:rPr lang="en-US" sz="1600" dirty="0" err="1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keresztül</a:t>
              </a:r>
              <a:endParaRPr lang="en-US" sz="1600" dirty="0">
                <a:latin typeface="+mj-lt"/>
              </a:endParaRPr>
            </a:p>
          </p:txBody>
        </p:sp>
      </p:grpSp>
      <p:grpSp>
        <p:nvGrpSpPr>
          <p:cNvPr id="32" name="Csoportba foglalás 31">
            <a:extLst>
              <a:ext uri="{FF2B5EF4-FFF2-40B4-BE49-F238E27FC236}">
                <a16:creationId xmlns:a16="http://schemas.microsoft.com/office/drawing/2014/main" id="{FC87DAE9-0466-EB41-E9C9-28427B19ABA2}"/>
              </a:ext>
            </a:extLst>
          </p:cNvPr>
          <p:cNvGrpSpPr/>
          <p:nvPr/>
        </p:nvGrpSpPr>
        <p:grpSpPr>
          <a:xfrm>
            <a:off x="680321" y="2265718"/>
            <a:ext cx="5868496" cy="4358125"/>
            <a:chOff x="191509" y="2151998"/>
            <a:chExt cx="5868496" cy="4358125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C12DC959-F0AD-EB46-484C-4DB5621BEFD0}"/>
                </a:ext>
              </a:extLst>
            </p:cNvPr>
            <p:cNvSpPr/>
            <p:nvPr/>
          </p:nvSpPr>
          <p:spPr>
            <a:xfrm>
              <a:off x="1234804" y="5788726"/>
              <a:ext cx="4610351" cy="72139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grpSp>
          <p:nvGrpSpPr>
            <p:cNvPr id="31" name="Csoportba foglalás 30">
              <a:extLst>
                <a:ext uri="{FF2B5EF4-FFF2-40B4-BE49-F238E27FC236}">
                  <a16:creationId xmlns:a16="http://schemas.microsoft.com/office/drawing/2014/main" id="{203AECEF-BDAB-9744-0BC8-F8AEE0457917}"/>
                </a:ext>
              </a:extLst>
            </p:cNvPr>
            <p:cNvGrpSpPr/>
            <p:nvPr/>
          </p:nvGrpSpPr>
          <p:grpSpPr>
            <a:xfrm>
              <a:off x="191509" y="2151998"/>
              <a:ext cx="5868496" cy="4316954"/>
              <a:chOff x="191509" y="2151998"/>
              <a:chExt cx="5868496" cy="4316954"/>
            </a:xfrm>
          </p:grpSpPr>
          <p:grpSp>
            <p:nvGrpSpPr>
              <p:cNvPr id="41" name="Csoportba foglalás 40">
                <a:extLst>
                  <a:ext uri="{FF2B5EF4-FFF2-40B4-BE49-F238E27FC236}">
                    <a16:creationId xmlns:a16="http://schemas.microsoft.com/office/drawing/2014/main" id="{E4939D74-61A7-C022-CBAE-3C90FBB1DACC}"/>
                  </a:ext>
                </a:extLst>
              </p:cNvPr>
              <p:cNvGrpSpPr/>
              <p:nvPr/>
            </p:nvGrpSpPr>
            <p:grpSpPr>
              <a:xfrm>
                <a:off x="191509" y="2151998"/>
                <a:ext cx="4265551" cy="773636"/>
                <a:chOff x="131063" y="2139513"/>
                <a:chExt cx="4265551" cy="773636"/>
              </a:xfrm>
            </p:grpSpPr>
            <p:sp>
              <p:nvSpPr>
                <p:cNvPr id="4" name="Téglalap: lekerekített 3">
                  <a:extLst>
                    <a:ext uri="{FF2B5EF4-FFF2-40B4-BE49-F238E27FC236}">
                      <a16:creationId xmlns:a16="http://schemas.microsoft.com/office/drawing/2014/main" id="{5DEB8701-6EBF-3442-9F26-B43436A9FFAC}"/>
                    </a:ext>
                  </a:extLst>
                </p:cNvPr>
                <p:cNvSpPr/>
                <p:nvPr/>
              </p:nvSpPr>
              <p:spPr>
                <a:xfrm>
                  <a:off x="131063" y="2139513"/>
                  <a:ext cx="4129914" cy="773636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 dirty="0"/>
                </a:p>
              </p:txBody>
            </p:sp>
            <p:sp>
              <p:nvSpPr>
                <p:cNvPr id="9" name="Szövegdoboz 8">
                  <a:extLst>
                    <a:ext uri="{FF2B5EF4-FFF2-40B4-BE49-F238E27FC236}">
                      <a16:creationId xmlns:a16="http://schemas.microsoft.com/office/drawing/2014/main" id="{5B8F4940-4639-3ED9-4E5C-A7B7086E6663}"/>
                    </a:ext>
                  </a:extLst>
                </p:cNvPr>
                <p:cNvSpPr txBox="1"/>
                <p:nvPr/>
              </p:nvSpPr>
              <p:spPr>
                <a:xfrm>
                  <a:off x="266700" y="2224150"/>
                  <a:ext cx="41299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WEB</a:t>
                  </a:r>
                </a:p>
              </p:txBody>
            </p:sp>
            <p:sp>
              <p:nvSpPr>
                <p:cNvPr id="10" name="Szövegdoboz 9">
                  <a:extLst>
                    <a:ext uri="{FF2B5EF4-FFF2-40B4-BE49-F238E27FC236}">
                      <a16:creationId xmlns:a16="http://schemas.microsoft.com/office/drawing/2014/main" id="{25A022A2-3AA8-8FD6-D765-68C5407A278E}"/>
                    </a:ext>
                  </a:extLst>
                </p:cNvPr>
                <p:cNvSpPr txBox="1"/>
                <p:nvPr/>
              </p:nvSpPr>
              <p:spPr>
                <a:xfrm>
                  <a:off x="1224871" y="2247565"/>
                  <a:ext cx="303610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1600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Blazor</a:t>
                  </a:r>
                  <a:r>
                    <a:rPr lang="hu-HU" sz="16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felület, komponensek, </a:t>
                  </a:r>
                  <a:r>
                    <a:rPr lang="hu-HU" sz="1600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auth</a:t>
                  </a:r>
                  <a:r>
                    <a:rPr lang="hu-HU" sz="16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</a:t>
                  </a:r>
                  <a:r>
                    <a:rPr lang="hu-HU" sz="1600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state</a:t>
                  </a:r>
                  <a:r>
                    <a:rPr lang="hu-HU" sz="1600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HTTP kliensek</a:t>
                  </a:r>
                </a:p>
              </p:txBody>
            </p:sp>
          </p:grpSp>
          <p:grpSp>
            <p:nvGrpSpPr>
              <p:cNvPr id="40" name="Csoportba foglalás 39">
                <a:extLst>
                  <a:ext uri="{FF2B5EF4-FFF2-40B4-BE49-F238E27FC236}">
                    <a16:creationId xmlns:a16="http://schemas.microsoft.com/office/drawing/2014/main" id="{AFB6AE8A-0CB7-F396-6310-019CD0BFC982}"/>
                  </a:ext>
                </a:extLst>
              </p:cNvPr>
              <p:cNvGrpSpPr/>
              <p:nvPr/>
            </p:nvGrpSpPr>
            <p:grpSpPr>
              <a:xfrm>
                <a:off x="376697" y="3081785"/>
                <a:ext cx="4446226" cy="787565"/>
                <a:chOff x="394380" y="3100836"/>
                <a:chExt cx="4446226" cy="787565"/>
              </a:xfrm>
            </p:grpSpPr>
            <p:sp>
              <p:nvSpPr>
                <p:cNvPr id="5" name="Téglalap: lekerekített 4">
                  <a:extLst>
                    <a:ext uri="{FF2B5EF4-FFF2-40B4-BE49-F238E27FC236}">
                      <a16:creationId xmlns:a16="http://schemas.microsoft.com/office/drawing/2014/main" id="{E134754F-74C4-0A01-8E99-5DD9F6DEEE91}"/>
                    </a:ext>
                  </a:extLst>
                </p:cNvPr>
                <p:cNvSpPr/>
                <p:nvPr/>
              </p:nvSpPr>
              <p:spPr>
                <a:xfrm>
                  <a:off x="394380" y="3100836"/>
                  <a:ext cx="4356274" cy="787565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 dirty="0"/>
                </a:p>
              </p:txBody>
            </p:sp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6FFD1478-DE5F-36A6-63C4-736BDABBDA78}"/>
                    </a:ext>
                  </a:extLst>
                </p:cNvPr>
                <p:cNvSpPr txBox="1"/>
                <p:nvPr/>
              </p:nvSpPr>
              <p:spPr>
                <a:xfrm>
                  <a:off x="545388" y="3125286"/>
                  <a:ext cx="7576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API</a:t>
                  </a:r>
                </a:p>
              </p:txBody>
            </p:sp>
            <p:sp>
              <p:nvSpPr>
                <p:cNvPr id="12" name="Szövegdoboz 11">
                  <a:extLst>
                    <a:ext uri="{FF2B5EF4-FFF2-40B4-BE49-F238E27FC236}">
                      <a16:creationId xmlns:a16="http://schemas.microsoft.com/office/drawing/2014/main" id="{F764D592-2F45-0632-20AF-D755E0FDF9CE}"/>
                    </a:ext>
                  </a:extLst>
                </p:cNvPr>
                <p:cNvSpPr txBox="1"/>
                <p:nvPr/>
              </p:nvSpPr>
              <p:spPr>
                <a:xfrm>
                  <a:off x="1479263" y="3159124"/>
                  <a:ext cx="336134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Controller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végpontok, CORS,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Swagger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JWT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middleaware</a:t>
                  </a:r>
                  <a:endPara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9" name="Csoportba foglalás 38">
                <a:extLst>
                  <a:ext uri="{FF2B5EF4-FFF2-40B4-BE49-F238E27FC236}">
                    <a16:creationId xmlns:a16="http://schemas.microsoft.com/office/drawing/2014/main" id="{373DFBD7-1AC2-6DE7-3130-CA73C5CA86E4}"/>
                  </a:ext>
                </a:extLst>
              </p:cNvPr>
              <p:cNvGrpSpPr/>
              <p:nvPr/>
            </p:nvGrpSpPr>
            <p:grpSpPr>
              <a:xfrm>
                <a:off x="697933" y="4028862"/>
                <a:ext cx="4531818" cy="724393"/>
                <a:chOff x="768566" y="4030396"/>
                <a:chExt cx="4531818" cy="724393"/>
              </a:xfrm>
            </p:grpSpPr>
            <p:sp>
              <p:nvSpPr>
                <p:cNvPr id="6" name="Téglalap: lekerekített 5">
                  <a:extLst>
                    <a:ext uri="{FF2B5EF4-FFF2-40B4-BE49-F238E27FC236}">
                      <a16:creationId xmlns:a16="http://schemas.microsoft.com/office/drawing/2014/main" id="{F28398C0-456E-4A64-9791-076407F5A512}"/>
                    </a:ext>
                  </a:extLst>
                </p:cNvPr>
                <p:cNvSpPr/>
                <p:nvPr/>
              </p:nvSpPr>
              <p:spPr>
                <a:xfrm>
                  <a:off x="768566" y="4030396"/>
                  <a:ext cx="4531818" cy="72439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 dirty="0"/>
                </a:p>
              </p:txBody>
            </p:sp>
            <p:sp>
              <p:nvSpPr>
                <p:cNvPr id="25" name="Szövegdoboz 24">
                  <a:extLst>
                    <a:ext uri="{FF2B5EF4-FFF2-40B4-BE49-F238E27FC236}">
                      <a16:creationId xmlns:a16="http://schemas.microsoft.com/office/drawing/2014/main" id="{628BA3E6-9DF2-4083-E419-F51F229E094A}"/>
                    </a:ext>
                  </a:extLst>
                </p:cNvPr>
                <p:cNvSpPr txBox="1"/>
                <p:nvPr/>
              </p:nvSpPr>
              <p:spPr>
                <a:xfrm>
                  <a:off x="966283" y="4036037"/>
                  <a:ext cx="13766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Application</a:t>
                  </a:r>
                  <a:endPara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6" name="Szövegdoboz 25">
                  <a:extLst>
                    <a:ext uri="{FF2B5EF4-FFF2-40B4-BE49-F238E27FC236}">
                      <a16:creationId xmlns:a16="http://schemas.microsoft.com/office/drawing/2014/main" id="{ABA796FB-04FB-0B71-349C-D02235F52206}"/>
                    </a:ext>
                  </a:extLst>
                </p:cNvPr>
                <p:cNvSpPr txBox="1"/>
                <p:nvPr/>
              </p:nvSpPr>
              <p:spPr>
                <a:xfrm>
                  <a:off x="2514315" y="4055980"/>
                  <a:ext cx="278606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Service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layer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DTO-k, üzleti logika,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interfacek</a:t>
                  </a:r>
                  <a:endPara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7" name="Csoportba foglalás 36">
                <a:extLst>
                  <a:ext uri="{FF2B5EF4-FFF2-40B4-BE49-F238E27FC236}">
                    <a16:creationId xmlns:a16="http://schemas.microsoft.com/office/drawing/2014/main" id="{F57A92B4-26B6-F973-E754-6DF7C671ADA9}"/>
                  </a:ext>
                </a:extLst>
              </p:cNvPr>
              <p:cNvGrpSpPr/>
              <p:nvPr/>
            </p:nvGrpSpPr>
            <p:grpSpPr>
              <a:xfrm>
                <a:off x="986112" y="4902083"/>
                <a:ext cx="4631803" cy="719600"/>
                <a:chOff x="1343527" y="4805876"/>
                <a:chExt cx="4631803" cy="719600"/>
              </a:xfrm>
            </p:grpSpPr>
            <p:sp>
              <p:nvSpPr>
                <p:cNvPr id="7" name="Téglalap: lekerekített 6">
                  <a:extLst>
                    <a:ext uri="{FF2B5EF4-FFF2-40B4-BE49-F238E27FC236}">
                      <a16:creationId xmlns:a16="http://schemas.microsoft.com/office/drawing/2014/main" id="{7267281A-0937-1DEB-E295-376CBC160E78}"/>
                    </a:ext>
                  </a:extLst>
                </p:cNvPr>
                <p:cNvSpPr/>
                <p:nvPr/>
              </p:nvSpPr>
              <p:spPr>
                <a:xfrm>
                  <a:off x="1343527" y="4805876"/>
                  <a:ext cx="4610351" cy="7196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 dirty="0"/>
                </a:p>
              </p:txBody>
            </p:sp>
            <p:sp>
              <p:nvSpPr>
                <p:cNvPr id="27" name="Szövegdoboz 26">
                  <a:extLst>
                    <a:ext uri="{FF2B5EF4-FFF2-40B4-BE49-F238E27FC236}">
                      <a16:creationId xmlns:a16="http://schemas.microsoft.com/office/drawing/2014/main" id="{7887922B-A9E5-E5B1-A781-E4222E402C7F}"/>
                    </a:ext>
                  </a:extLst>
                </p:cNvPr>
                <p:cNvSpPr txBox="1"/>
                <p:nvPr/>
              </p:nvSpPr>
              <p:spPr>
                <a:xfrm>
                  <a:off x="1558517" y="4836096"/>
                  <a:ext cx="1635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Infrasturcture</a:t>
                  </a:r>
                  <a:endPara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8" name="Szövegdoboz 27">
                  <a:extLst>
                    <a:ext uri="{FF2B5EF4-FFF2-40B4-BE49-F238E27FC236}">
                      <a16:creationId xmlns:a16="http://schemas.microsoft.com/office/drawing/2014/main" id="{DD81637C-C55D-E790-C6DF-3B5B87BCEAD2}"/>
                    </a:ext>
                  </a:extLst>
                </p:cNvPr>
                <p:cNvSpPr txBox="1"/>
                <p:nvPr/>
              </p:nvSpPr>
              <p:spPr>
                <a:xfrm>
                  <a:off x="3196866" y="4848154"/>
                  <a:ext cx="277846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EF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Core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repository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UnitOfWork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SignalR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hub</a:t>
                  </a:r>
                  <a:endPara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38" name="Csoportba foglalás 37">
                <a:extLst>
                  <a:ext uri="{FF2B5EF4-FFF2-40B4-BE49-F238E27FC236}">
                    <a16:creationId xmlns:a16="http://schemas.microsoft.com/office/drawing/2014/main" id="{D798F387-EC4C-59B7-549C-467AB591BE6F}"/>
                  </a:ext>
                </a:extLst>
              </p:cNvPr>
              <p:cNvGrpSpPr/>
              <p:nvPr/>
            </p:nvGrpSpPr>
            <p:grpSpPr>
              <a:xfrm>
                <a:off x="1454876" y="5795714"/>
                <a:ext cx="4605129" cy="673238"/>
                <a:chOff x="1481118" y="5769345"/>
                <a:chExt cx="4605129" cy="673238"/>
              </a:xfrm>
            </p:grpSpPr>
            <p:sp>
              <p:nvSpPr>
                <p:cNvPr id="29" name="Szövegdoboz 28">
                  <a:extLst>
                    <a:ext uri="{FF2B5EF4-FFF2-40B4-BE49-F238E27FC236}">
                      <a16:creationId xmlns:a16="http://schemas.microsoft.com/office/drawing/2014/main" id="{2D2A63B1-2D47-2822-3721-537889128D3A}"/>
                    </a:ext>
                  </a:extLst>
                </p:cNvPr>
                <p:cNvSpPr txBox="1"/>
                <p:nvPr/>
              </p:nvSpPr>
              <p:spPr>
                <a:xfrm>
                  <a:off x="1481118" y="5769345"/>
                  <a:ext cx="131196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Domain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 + SQL Server</a:t>
                  </a:r>
                </a:p>
              </p:txBody>
            </p:sp>
            <p:sp>
              <p:nvSpPr>
                <p:cNvPr id="30" name="Szövegdoboz 29">
                  <a:extLst>
                    <a:ext uri="{FF2B5EF4-FFF2-40B4-BE49-F238E27FC236}">
                      <a16:creationId xmlns:a16="http://schemas.microsoft.com/office/drawing/2014/main" id="{0C9D5B44-24D4-C313-7043-96B82BE9BEBF}"/>
                    </a:ext>
                  </a:extLst>
                </p:cNvPr>
                <p:cNvSpPr txBox="1"/>
                <p:nvPr/>
              </p:nvSpPr>
              <p:spPr>
                <a:xfrm>
                  <a:off x="3012643" y="5796252"/>
                  <a:ext cx="307360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Entitások, </a:t>
                  </a:r>
                  <a:r>
                    <a:rPr lang="hu-HU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enumok</a:t>
                  </a:r>
                  <a:r>
                    <a:rPr lang="hu-HU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, adattárolás</a:t>
                  </a:r>
                </a:p>
              </p:txBody>
            </p:sp>
          </p:grpSp>
          <p:cxnSp>
            <p:nvCxnSpPr>
              <p:cNvPr id="97" name="Egyenes összekötő nyíllal 96">
                <a:extLst>
                  <a:ext uri="{FF2B5EF4-FFF2-40B4-BE49-F238E27FC236}">
                    <a16:creationId xmlns:a16="http://schemas.microsoft.com/office/drawing/2014/main" id="{047D31D0-2E06-BCE6-CE3A-E7E9CA65F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8777" y="2925634"/>
                <a:ext cx="0" cy="2947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Egyenes összekötő nyíllal 100">
                <a:extLst>
                  <a:ext uri="{FF2B5EF4-FFF2-40B4-BE49-F238E27FC236}">
                    <a16:creationId xmlns:a16="http://schemas.microsoft.com/office/drawing/2014/main" id="{75C80729-88FE-060F-3B9D-3BE9BF4AE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103" y="3869350"/>
                <a:ext cx="0" cy="2947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Egyenes összekötő nyíllal 101">
                <a:extLst>
                  <a:ext uri="{FF2B5EF4-FFF2-40B4-BE49-F238E27FC236}">
                    <a16:creationId xmlns:a16="http://schemas.microsoft.com/office/drawing/2014/main" id="{F8696660-65A6-B0FC-5B6B-25320AA1C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1523" y="4756778"/>
                <a:ext cx="0" cy="2947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Egyenes összekötő nyíllal 102">
                <a:extLst>
                  <a:ext uri="{FF2B5EF4-FFF2-40B4-BE49-F238E27FC236}">
                    <a16:creationId xmlns:a16="http://schemas.microsoft.com/office/drawing/2014/main" id="{3113583B-DA70-2456-5ACD-DC9C06C8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6840" y="5648325"/>
                <a:ext cx="0" cy="2947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65519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6FAC14-11F9-13A7-5819-AED1327E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Adatbázisz</a:t>
            </a:r>
            <a:r>
              <a:rPr lang="hu-HU" dirty="0"/>
              <a:t> szerkezet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F5EFB71-0837-1D7C-17B8-EDCB5185A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1" y="2151671"/>
            <a:ext cx="6859403" cy="4294833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8484857E-0376-72B3-73FD-4D1CD1BA979E}"/>
              </a:ext>
            </a:extLst>
          </p:cNvPr>
          <p:cNvSpPr txBox="1"/>
          <p:nvPr/>
        </p:nvSpPr>
        <p:spPr>
          <a:xfrm>
            <a:off x="8519524" y="3837422"/>
            <a:ext cx="4078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 SQL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Entity</a:t>
            </a: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Framework </a:t>
            </a:r>
            <a:r>
              <a:rPr lang="hu-HU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</a:t>
            </a: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Kézzel írt SQL</a:t>
            </a:r>
          </a:p>
        </p:txBody>
      </p:sp>
    </p:spTree>
    <p:extLst>
      <p:ext uri="{BB962C8B-B14F-4D97-AF65-F5344CB8AC3E}">
        <p14:creationId xmlns:p14="http://schemas.microsoft.com/office/powerpoint/2010/main" val="318091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E444FF-C496-B53A-6BE3-BA0DCC03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</a:t>
            </a: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D61794A-C596-3789-83F6-FD0DD3BEA9C8}"/>
              </a:ext>
            </a:extLst>
          </p:cNvPr>
          <p:cNvSpPr/>
          <p:nvPr/>
        </p:nvSpPr>
        <p:spPr>
          <a:xfrm>
            <a:off x="393192" y="2167128"/>
            <a:ext cx="4279392" cy="1463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C8D74DE0-E844-FEE9-441E-B619C875AB0B}"/>
              </a:ext>
            </a:extLst>
          </p:cNvPr>
          <p:cNvSpPr/>
          <p:nvPr/>
        </p:nvSpPr>
        <p:spPr>
          <a:xfrm>
            <a:off x="393192" y="5367528"/>
            <a:ext cx="4462272" cy="13350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6E8791B0-2B75-DAAB-CB8C-E7E3C9AD7D1B}"/>
              </a:ext>
            </a:extLst>
          </p:cNvPr>
          <p:cNvSpPr/>
          <p:nvPr/>
        </p:nvSpPr>
        <p:spPr>
          <a:xfrm>
            <a:off x="8174736" y="2185416"/>
            <a:ext cx="375818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5677FE46-D85F-824B-B71B-EF2A418EC3B3}"/>
              </a:ext>
            </a:extLst>
          </p:cNvPr>
          <p:cNvSpPr/>
          <p:nvPr/>
        </p:nvSpPr>
        <p:spPr>
          <a:xfrm>
            <a:off x="8252460" y="5367528"/>
            <a:ext cx="3758184" cy="13350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3262643-9853-4128-FC70-4905ACFC403D}"/>
              </a:ext>
            </a:extLst>
          </p:cNvPr>
          <p:cNvSpPr txBox="1"/>
          <p:nvPr/>
        </p:nvSpPr>
        <p:spPr>
          <a:xfrm>
            <a:off x="822960" y="2185416"/>
            <a:ext cx="3630168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Felhasználókezelés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75B8A81-D7D1-9AE3-3726-8311FB091174}"/>
              </a:ext>
            </a:extLst>
          </p:cNvPr>
          <p:cNvSpPr txBox="1"/>
          <p:nvPr/>
        </p:nvSpPr>
        <p:spPr>
          <a:xfrm>
            <a:off x="8485632" y="2185416"/>
            <a:ext cx="315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Kereséskezelés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680669C-5A6A-F1C5-4305-B9BDDFAAB9BC}"/>
              </a:ext>
            </a:extLst>
          </p:cNvPr>
          <p:cNvSpPr txBox="1"/>
          <p:nvPr/>
        </p:nvSpPr>
        <p:spPr>
          <a:xfrm>
            <a:off x="680321" y="5431536"/>
            <a:ext cx="399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Chat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54B443C-5FF5-DFA2-4B97-58984F7D9011}"/>
              </a:ext>
            </a:extLst>
          </p:cNvPr>
          <p:cNvSpPr txBox="1"/>
          <p:nvPr/>
        </p:nvSpPr>
        <p:spPr>
          <a:xfrm>
            <a:off x="8668512" y="5431536"/>
            <a:ext cx="313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err="1"/>
              <a:t>Admin</a:t>
            </a:r>
            <a:r>
              <a:rPr lang="hu-HU" dirty="0"/>
              <a:t> Funkciók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4683C47-604A-74CF-49C2-6BF7688DA5A5}"/>
              </a:ext>
            </a:extLst>
          </p:cNvPr>
          <p:cNvSpPr txBox="1"/>
          <p:nvPr/>
        </p:nvSpPr>
        <p:spPr>
          <a:xfrm>
            <a:off x="612648" y="2569464"/>
            <a:ext cx="3840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Regisztráció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Bejelentkezés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Profilkezelés</a:t>
            </a:r>
          </a:p>
        </p:txBody>
      </p:sp>
    </p:spTree>
    <p:extLst>
      <p:ext uri="{BB962C8B-B14F-4D97-AF65-F5344CB8AC3E}">
        <p14:creationId xmlns:p14="http://schemas.microsoft.com/office/powerpoint/2010/main" val="1355224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7402FB-D7FF-A79F-608C-09CCEE731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Igénylés folyamata</a:t>
            </a:r>
          </a:p>
        </p:txBody>
      </p:sp>
      <p:grpSp>
        <p:nvGrpSpPr>
          <p:cNvPr id="63" name="Csoportba foglalás 62">
            <a:extLst>
              <a:ext uri="{FF2B5EF4-FFF2-40B4-BE49-F238E27FC236}">
                <a16:creationId xmlns:a16="http://schemas.microsoft.com/office/drawing/2014/main" id="{885559BE-911A-59A5-E3AA-232A470BA78E}"/>
              </a:ext>
            </a:extLst>
          </p:cNvPr>
          <p:cNvGrpSpPr/>
          <p:nvPr/>
        </p:nvGrpSpPr>
        <p:grpSpPr>
          <a:xfrm>
            <a:off x="399768" y="2431481"/>
            <a:ext cx="11392464" cy="1491916"/>
            <a:chOff x="399768" y="2683040"/>
            <a:chExt cx="11392464" cy="1491916"/>
          </a:xfrm>
        </p:grpSpPr>
        <p:grpSp>
          <p:nvGrpSpPr>
            <p:cNvPr id="34" name="Csoportba foglalás 33">
              <a:extLst>
                <a:ext uri="{FF2B5EF4-FFF2-40B4-BE49-F238E27FC236}">
                  <a16:creationId xmlns:a16="http://schemas.microsoft.com/office/drawing/2014/main" id="{BDB8013A-A033-24B6-B7D1-7A87D3F7BA24}"/>
                </a:ext>
              </a:extLst>
            </p:cNvPr>
            <p:cNvGrpSpPr/>
            <p:nvPr/>
          </p:nvGrpSpPr>
          <p:grpSpPr>
            <a:xfrm>
              <a:off x="399768" y="2683040"/>
              <a:ext cx="1798922" cy="1491916"/>
              <a:chOff x="848944" y="2683040"/>
              <a:chExt cx="1798922" cy="1491916"/>
            </a:xfrm>
          </p:grpSpPr>
          <p:sp>
            <p:nvSpPr>
              <p:cNvPr id="15" name="Téglalap: lekerekített 14">
                <a:extLst>
                  <a:ext uri="{FF2B5EF4-FFF2-40B4-BE49-F238E27FC236}">
                    <a16:creationId xmlns:a16="http://schemas.microsoft.com/office/drawing/2014/main" id="{2373E1E0-814C-10BC-BB61-6C25EC23C713}"/>
                  </a:ext>
                </a:extLst>
              </p:cNvPr>
              <p:cNvSpPr/>
              <p:nvPr/>
            </p:nvSpPr>
            <p:spPr>
              <a:xfrm>
                <a:off x="848947" y="2683040"/>
                <a:ext cx="1798919" cy="14919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7" name="Szövegdoboz 26">
                <a:extLst>
                  <a:ext uri="{FF2B5EF4-FFF2-40B4-BE49-F238E27FC236}">
                    <a16:creationId xmlns:a16="http://schemas.microsoft.com/office/drawing/2014/main" id="{A58214AF-B13F-3F9D-6BC4-493FC2D04464}"/>
                  </a:ext>
                </a:extLst>
              </p:cNvPr>
              <p:cNvSpPr txBox="1"/>
              <p:nvPr/>
            </p:nvSpPr>
            <p:spPr>
              <a:xfrm>
                <a:off x="848944" y="3105832"/>
                <a:ext cx="1798921" cy="64633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Termék böngészése</a:t>
                </a:r>
              </a:p>
            </p:txBody>
          </p:sp>
        </p:grpSp>
        <p:grpSp>
          <p:nvGrpSpPr>
            <p:cNvPr id="35" name="Csoportba foglalás 34">
              <a:extLst>
                <a:ext uri="{FF2B5EF4-FFF2-40B4-BE49-F238E27FC236}">
                  <a16:creationId xmlns:a16="http://schemas.microsoft.com/office/drawing/2014/main" id="{C7E251CC-7732-40AA-AD39-DAB8DDEE2C6A}"/>
                </a:ext>
              </a:extLst>
            </p:cNvPr>
            <p:cNvGrpSpPr/>
            <p:nvPr/>
          </p:nvGrpSpPr>
          <p:grpSpPr>
            <a:xfrm>
              <a:off x="2798153" y="2683040"/>
              <a:ext cx="1798919" cy="1491916"/>
              <a:chOff x="3022743" y="2683040"/>
              <a:chExt cx="1798919" cy="1491916"/>
            </a:xfrm>
          </p:grpSpPr>
          <p:sp>
            <p:nvSpPr>
              <p:cNvPr id="22" name="Téglalap: lekerekített 21">
                <a:extLst>
                  <a:ext uri="{FF2B5EF4-FFF2-40B4-BE49-F238E27FC236}">
                    <a16:creationId xmlns:a16="http://schemas.microsoft.com/office/drawing/2014/main" id="{88FC96F1-1A60-412F-D436-C3138D5D44B9}"/>
                  </a:ext>
                </a:extLst>
              </p:cNvPr>
              <p:cNvSpPr/>
              <p:nvPr/>
            </p:nvSpPr>
            <p:spPr>
              <a:xfrm>
                <a:off x="3022743" y="2683040"/>
                <a:ext cx="1798919" cy="14919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8" name="Szövegdoboz 27">
                <a:extLst>
                  <a:ext uri="{FF2B5EF4-FFF2-40B4-BE49-F238E27FC236}">
                    <a16:creationId xmlns:a16="http://schemas.microsoft.com/office/drawing/2014/main" id="{92CA6364-AED7-A19B-7079-F6FBAF4675D8}"/>
                  </a:ext>
                </a:extLst>
              </p:cNvPr>
              <p:cNvSpPr txBox="1"/>
              <p:nvPr/>
            </p:nvSpPr>
            <p:spPr>
              <a:xfrm>
                <a:off x="3022743" y="3105832"/>
                <a:ext cx="1798918" cy="64633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rPr>
                  <a:t>Termék megigénylése</a:t>
                </a:r>
              </a:p>
            </p:txBody>
          </p:sp>
        </p:grpSp>
        <p:grpSp>
          <p:nvGrpSpPr>
            <p:cNvPr id="36" name="Csoportba foglalás 35">
              <a:extLst>
                <a:ext uri="{FF2B5EF4-FFF2-40B4-BE49-F238E27FC236}">
                  <a16:creationId xmlns:a16="http://schemas.microsoft.com/office/drawing/2014/main" id="{093A73D7-7F91-4A39-0F3E-ADF389A950C3}"/>
                </a:ext>
              </a:extLst>
            </p:cNvPr>
            <p:cNvGrpSpPr/>
            <p:nvPr/>
          </p:nvGrpSpPr>
          <p:grpSpPr>
            <a:xfrm>
              <a:off x="5196540" y="2683040"/>
              <a:ext cx="1798919" cy="1491916"/>
              <a:chOff x="5196540" y="2683040"/>
              <a:chExt cx="1798919" cy="1491916"/>
            </a:xfrm>
          </p:grpSpPr>
          <p:sp>
            <p:nvSpPr>
              <p:cNvPr id="23" name="Téglalap: lekerekített 22">
                <a:extLst>
                  <a:ext uri="{FF2B5EF4-FFF2-40B4-BE49-F238E27FC236}">
                    <a16:creationId xmlns:a16="http://schemas.microsoft.com/office/drawing/2014/main" id="{59453E46-9C4E-6B88-9999-DEB9499AEB80}"/>
                  </a:ext>
                </a:extLst>
              </p:cNvPr>
              <p:cNvSpPr/>
              <p:nvPr/>
            </p:nvSpPr>
            <p:spPr>
              <a:xfrm>
                <a:off x="5196540" y="2683040"/>
                <a:ext cx="1798919" cy="14919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9" name="Szövegdoboz 28">
                <a:extLst>
                  <a:ext uri="{FF2B5EF4-FFF2-40B4-BE49-F238E27FC236}">
                    <a16:creationId xmlns:a16="http://schemas.microsoft.com/office/drawing/2014/main" id="{B8E2CC2E-E335-74EC-A8A4-54564F6B66CE}"/>
                  </a:ext>
                </a:extLst>
              </p:cNvPr>
              <p:cNvSpPr txBox="1"/>
              <p:nvPr/>
            </p:nvSpPr>
            <p:spPr>
              <a:xfrm>
                <a:off x="5196540" y="2967332"/>
                <a:ext cx="1798919" cy="92333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Chat és igénylés létrejön</a:t>
                </a:r>
              </a:p>
            </p:txBody>
          </p:sp>
        </p:grpSp>
        <p:grpSp>
          <p:nvGrpSpPr>
            <p:cNvPr id="37" name="Csoportba foglalás 36">
              <a:extLst>
                <a:ext uri="{FF2B5EF4-FFF2-40B4-BE49-F238E27FC236}">
                  <a16:creationId xmlns:a16="http://schemas.microsoft.com/office/drawing/2014/main" id="{644D08C1-FA19-1771-B654-8279C3C21675}"/>
                </a:ext>
              </a:extLst>
            </p:cNvPr>
            <p:cNvGrpSpPr/>
            <p:nvPr/>
          </p:nvGrpSpPr>
          <p:grpSpPr>
            <a:xfrm>
              <a:off x="7594928" y="2683040"/>
              <a:ext cx="1798919" cy="1491916"/>
              <a:chOff x="7370337" y="2683040"/>
              <a:chExt cx="1798919" cy="1491916"/>
            </a:xfrm>
          </p:grpSpPr>
          <p:sp>
            <p:nvSpPr>
              <p:cNvPr id="24" name="Téglalap: lekerekített 23">
                <a:extLst>
                  <a:ext uri="{FF2B5EF4-FFF2-40B4-BE49-F238E27FC236}">
                    <a16:creationId xmlns:a16="http://schemas.microsoft.com/office/drawing/2014/main" id="{2E667C77-92C5-AB3E-0412-921A53DDFD69}"/>
                  </a:ext>
                </a:extLst>
              </p:cNvPr>
              <p:cNvSpPr/>
              <p:nvPr/>
            </p:nvSpPr>
            <p:spPr>
              <a:xfrm>
                <a:off x="7370337" y="2683040"/>
                <a:ext cx="1798919" cy="14919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0" name="Szövegdoboz 29">
                <a:extLst>
                  <a:ext uri="{FF2B5EF4-FFF2-40B4-BE49-F238E27FC236}">
                    <a16:creationId xmlns:a16="http://schemas.microsoft.com/office/drawing/2014/main" id="{CD05A7E4-5549-3B99-438F-DE7CAA2882BD}"/>
                  </a:ext>
                </a:extLst>
              </p:cNvPr>
              <p:cNvSpPr txBox="1"/>
              <p:nvPr/>
            </p:nvSpPr>
            <p:spPr>
              <a:xfrm>
                <a:off x="7370337" y="3105832"/>
                <a:ext cx="1798919" cy="64633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rPr>
                  <a:t>Megegyezés az átadásról</a:t>
                </a:r>
              </a:p>
            </p:txBody>
          </p:sp>
        </p:grpSp>
        <p:grpSp>
          <p:nvGrpSpPr>
            <p:cNvPr id="38" name="Csoportba foglalás 37">
              <a:extLst>
                <a:ext uri="{FF2B5EF4-FFF2-40B4-BE49-F238E27FC236}">
                  <a16:creationId xmlns:a16="http://schemas.microsoft.com/office/drawing/2014/main" id="{BB89B466-0D69-9FA7-A4E0-C08FCB41EAA3}"/>
                </a:ext>
              </a:extLst>
            </p:cNvPr>
            <p:cNvGrpSpPr/>
            <p:nvPr/>
          </p:nvGrpSpPr>
          <p:grpSpPr>
            <a:xfrm>
              <a:off x="9993313" y="2683040"/>
              <a:ext cx="1798919" cy="1491916"/>
              <a:chOff x="9544134" y="2683040"/>
              <a:chExt cx="1798919" cy="1491916"/>
            </a:xfrm>
          </p:grpSpPr>
          <p:sp>
            <p:nvSpPr>
              <p:cNvPr id="25" name="Téglalap: lekerekített 24">
                <a:extLst>
                  <a:ext uri="{FF2B5EF4-FFF2-40B4-BE49-F238E27FC236}">
                    <a16:creationId xmlns:a16="http://schemas.microsoft.com/office/drawing/2014/main" id="{6C4F4B27-02AB-EDC0-2152-26214A100AD3}"/>
                  </a:ext>
                </a:extLst>
              </p:cNvPr>
              <p:cNvSpPr/>
              <p:nvPr/>
            </p:nvSpPr>
            <p:spPr>
              <a:xfrm>
                <a:off x="9544134" y="2683040"/>
                <a:ext cx="1798919" cy="14919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1" name="Szövegdoboz 30">
                <a:extLst>
                  <a:ext uri="{FF2B5EF4-FFF2-40B4-BE49-F238E27FC236}">
                    <a16:creationId xmlns:a16="http://schemas.microsoft.com/office/drawing/2014/main" id="{C17ADA0B-35B0-E91D-AD93-BBC21815F958}"/>
                  </a:ext>
                </a:extLst>
              </p:cNvPr>
              <p:cNvSpPr txBox="1"/>
              <p:nvPr/>
            </p:nvSpPr>
            <p:spPr>
              <a:xfrm>
                <a:off x="9544134" y="3105832"/>
                <a:ext cx="1798919" cy="64633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a:rPr>
                  <a:t>Igénylés lezárása</a:t>
                </a:r>
              </a:p>
            </p:txBody>
          </p:sp>
        </p:grpSp>
        <p:pic>
          <p:nvPicPr>
            <p:cNvPr id="45" name="Ábra 44" descr="Vonalas nyíl: egyenes egyszínű kitöltéssel">
              <a:extLst>
                <a:ext uri="{FF2B5EF4-FFF2-40B4-BE49-F238E27FC236}">
                  <a16:creationId xmlns:a16="http://schemas.microsoft.com/office/drawing/2014/main" id="{3BA7F18E-8AC1-D145-4A7D-0BA1F71B98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246417" y="3176997"/>
              <a:ext cx="504000" cy="504000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Ábra 49" descr="Vonalas nyíl: egyenes egyszínű kitöltéssel">
              <a:extLst>
                <a:ext uri="{FF2B5EF4-FFF2-40B4-BE49-F238E27FC236}">
                  <a16:creationId xmlns:a16="http://schemas.microsoft.com/office/drawing/2014/main" id="{AA1743EB-ABC4-42DF-7FDA-5A7EE47A9AB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4644804" y="3176998"/>
              <a:ext cx="504000" cy="504000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1" name="Ábra 50" descr="Vonalas nyíl: egyenes egyszínű kitöltéssel">
              <a:extLst>
                <a:ext uri="{FF2B5EF4-FFF2-40B4-BE49-F238E27FC236}">
                  <a16:creationId xmlns:a16="http://schemas.microsoft.com/office/drawing/2014/main" id="{CEBD27B1-6928-1DAE-3DBC-5599CC7A66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7043192" y="3176998"/>
              <a:ext cx="504000" cy="504000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2" name="Ábra 51" descr="Vonalas nyíl: egyenes egyszínű kitöltéssel">
              <a:extLst>
                <a:ext uri="{FF2B5EF4-FFF2-40B4-BE49-F238E27FC236}">
                  <a16:creationId xmlns:a16="http://schemas.microsoft.com/office/drawing/2014/main" id="{D2ADCBEF-2752-5168-3DCC-08E76D434E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9441584" y="3176997"/>
              <a:ext cx="504000" cy="504000"/>
            </a:xfrm>
            <a:prstGeom prst="rect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4" name="Csoportba foglalás 63">
            <a:extLst>
              <a:ext uri="{FF2B5EF4-FFF2-40B4-BE49-F238E27FC236}">
                <a16:creationId xmlns:a16="http://schemas.microsoft.com/office/drawing/2014/main" id="{868E286A-8BAD-78C9-03B9-B01A8A942405}"/>
              </a:ext>
            </a:extLst>
          </p:cNvPr>
          <p:cNvGrpSpPr/>
          <p:nvPr/>
        </p:nvGrpSpPr>
        <p:grpSpPr>
          <a:xfrm>
            <a:off x="399766" y="4904730"/>
            <a:ext cx="11392466" cy="1692250"/>
            <a:chOff x="399766" y="4904730"/>
            <a:chExt cx="11392466" cy="1692250"/>
          </a:xfrm>
        </p:grpSpPr>
        <p:sp>
          <p:nvSpPr>
            <p:cNvPr id="33" name="Téglalap 32">
              <a:extLst>
                <a:ext uri="{FF2B5EF4-FFF2-40B4-BE49-F238E27FC236}">
                  <a16:creationId xmlns:a16="http://schemas.microsoft.com/office/drawing/2014/main" id="{7887DED2-718E-3B12-D98F-E4A54E9F3023}"/>
                </a:ext>
              </a:extLst>
            </p:cNvPr>
            <p:cNvSpPr/>
            <p:nvPr/>
          </p:nvSpPr>
          <p:spPr>
            <a:xfrm>
              <a:off x="399766" y="4904730"/>
              <a:ext cx="3096550" cy="1692249"/>
            </a:xfrm>
            <a:prstGeom prst="rect">
              <a:avLst/>
            </a:prstGeom>
            <a:ln w="31750" cap="rnd" cmpd="thickThin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9156E5F-0574-9DF2-C99F-EB519EC98190}"/>
                </a:ext>
              </a:extLst>
            </p:cNvPr>
            <p:cNvSpPr/>
            <p:nvPr/>
          </p:nvSpPr>
          <p:spPr>
            <a:xfrm>
              <a:off x="4547724" y="4904731"/>
              <a:ext cx="3096550" cy="1692249"/>
            </a:xfrm>
            <a:prstGeom prst="rect">
              <a:avLst/>
            </a:prstGeom>
            <a:ln w="31750" cap="rnd" cmpd="thickThin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Téglalap 56">
              <a:extLst>
                <a:ext uri="{FF2B5EF4-FFF2-40B4-BE49-F238E27FC236}">
                  <a16:creationId xmlns:a16="http://schemas.microsoft.com/office/drawing/2014/main" id="{A5D308F0-1BC2-5776-9BF1-16EDF04DAC5F}"/>
                </a:ext>
              </a:extLst>
            </p:cNvPr>
            <p:cNvSpPr/>
            <p:nvPr/>
          </p:nvSpPr>
          <p:spPr>
            <a:xfrm>
              <a:off x="8695682" y="4904731"/>
              <a:ext cx="3096550" cy="1692249"/>
            </a:xfrm>
            <a:prstGeom prst="rect">
              <a:avLst/>
            </a:prstGeom>
            <a:ln w="31750" cap="rnd" cmpd="thickThin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E8109ACD-FAD3-F8D4-DDD5-8F1DF5F06450}"/>
              </a:ext>
            </a:extLst>
          </p:cNvPr>
          <p:cNvSpPr txBox="1"/>
          <p:nvPr/>
        </p:nvSpPr>
        <p:spPr>
          <a:xfrm>
            <a:off x="4547722" y="5003339"/>
            <a:ext cx="3096551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Átadva</a:t>
            </a:r>
          </a:p>
        </p:txBody>
      </p:sp>
      <p:sp>
        <p:nvSpPr>
          <p:cNvPr id="59" name="Szövegdoboz 58">
            <a:extLst>
              <a:ext uri="{FF2B5EF4-FFF2-40B4-BE49-F238E27FC236}">
                <a16:creationId xmlns:a16="http://schemas.microsoft.com/office/drawing/2014/main" id="{3E9540BD-6739-F042-FB32-757CBBEE87C5}"/>
              </a:ext>
            </a:extLst>
          </p:cNvPr>
          <p:cNvSpPr txBox="1"/>
          <p:nvPr/>
        </p:nvSpPr>
        <p:spPr>
          <a:xfrm>
            <a:off x="399765" y="5003339"/>
            <a:ext cx="3096550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Függőben</a:t>
            </a:r>
          </a:p>
        </p:txBody>
      </p:sp>
      <p:sp>
        <p:nvSpPr>
          <p:cNvPr id="60" name="Szövegdoboz 59">
            <a:extLst>
              <a:ext uri="{FF2B5EF4-FFF2-40B4-BE49-F238E27FC236}">
                <a16:creationId xmlns:a16="http://schemas.microsoft.com/office/drawing/2014/main" id="{91DD50DC-F5D6-7563-BB6A-BE9F36998D48}"/>
              </a:ext>
            </a:extLst>
          </p:cNvPr>
          <p:cNvSpPr txBox="1"/>
          <p:nvPr/>
        </p:nvSpPr>
        <p:spPr>
          <a:xfrm>
            <a:off x="8695679" y="5003339"/>
            <a:ext cx="3096550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</a:rPr>
              <a:t>Sikertelen</a:t>
            </a:r>
          </a:p>
        </p:txBody>
      </p:sp>
      <p:grpSp>
        <p:nvGrpSpPr>
          <p:cNvPr id="65" name="Csoportba foglalás 64">
            <a:extLst>
              <a:ext uri="{FF2B5EF4-FFF2-40B4-BE49-F238E27FC236}">
                <a16:creationId xmlns:a16="http://schemas.microsoft.com/office/drawing/2014/main" id="{75E8C414-D6CA-2F69-F3D0-F5A544443CE6}"/>
              </a:ext>
            </a:extLst>
          </p:cNvPr>
          <p:cNvGrpSpPr/>
          <p:nvPr/>
        </p:nvGrpSpPr>
        <p:grpSpPr>
          <a:xfrm>
            <a:off x="399766" y="4325734"/>
            <a:ext cx="11392467" cy="369332"/>
            <a:chOff x="399765" y="4485451"/>
            <a:chExt cx="11392467" cy="369332"/>
          </a:xfrm>
        </p:grpSpPr>
        <p:sp>
          <p:nvSpPr>
            <p:cNvPr id="62" name="Téglalap: átellenes sarkain levágva 61">
              <a:extLst>
                <a:ext uri="{FF2B5EF4-FFF2-40B4-BE49-F238E27FC236}">
                  <a16:creationId xmlns:a16="http://schemas.microsoft.com/office/drawing/2014/main" id="{2E993063-13E5-31A9-74D5-BB2A4C173A3D}"/>
                </a:ext>
              </a:extLst>
            </p:cNvPr>
            <p:cNvSpPr/>
            <p:nvPr/>
          </p:nvSpPr>
          <p:spPr>
            <a:xfrm>
              <a:off x="399765" y="4485451"/>
              <a:ext cx="11392467" cy="369332"/>
            </a:xfrm>
            <a:prstGeom prst="snip2Diag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1" name="Szövegdoboz 60">
              <a:extLst>
                <a:ext uri="{FF2B5EF4-FFF2-40B4-BE49-F238E27FC236}">
                  <a16:creationId xmlns:a16="http://schemas.microsoft.com/office/drawing/2014/main" id="{DB4BF9B2-F9C1-BB53-3D49-FACFD8773AA2}"/>
                </a:ext>
              </a:extLst>
            </p:cNvPr>
            <p:cNvSpPr txBox="1"/>
            <p:nvPr/>
          </p:nvSpPr>
          <p:spPr>
            <a:xfrm>
              <a:off x="399765" y="4485451"/>
              <a:ext cx="2600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Igénylési státuszok</a:t>
              </a:r>
            </a:p>
          </p:txBody>
        </p:sp>
      </p:grpSp>
      <p:sp>
        <p:nvSpPr>
          <p:cNvPr id="66" name="Szövegdoboz 65">
            <a:extLst>
              <a:ext uri="{FF2B5EF4-FFF2-40B4-BE49-F238E27FC236}">
                <a16:creationId xmlns:a16="http://schemas.microsoft.com/office/drawing/2014/main" id="{F462551D-0C92-2911-59FB-C4F540DB96E6}"/>
              </a:ext>
            </a:extLst>
          </p:cNvPr>
          <p:cNvSpPr txBox="1"/>
          <p:nvPr/>
        </p:nvSpPr>
        <p:spPr>
          <a:xfrm>
            <a:off x="399765" y="5591736"/>
            <a:ext cx="3096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i="1" dirty="0">
                <a:solidFill>
                  <a:schemeClr val="bg1"/>
                </a:solidFill>
              </a:rPr>
              <a:t>Igénylő beküldte a kérelmet, viszont nem dőlt el a termék sorsa</a:t>
            </a:r>
          </a:p>
        </p:txBody>
      </p:sp>
      <p:sp>
        <p:nvSpPr>
          <p:cNvPr id="67" name="Szövegdoboz 66">
            <a:extLst>
              <a:ext uri="{FF2B5EF4-FFF2-40B4-BE49-F238E27FC236}">
                <a16:creationId xmlns:a16="http://schemas.microsoft.com/office/drawing/2014/main" id="{ED0E0808-F1B5-6881-D49B-EE7643918803}"/>
              </a:ext>
            </a:extLst>
          </p:cNvPr>
          <p:cNvSpPr txBox="1"/>
          <p:nvPr/>
        </p:nvSpPr>
        <p:spPr>
          <a:xfrm>
            <a:off x="4547725" y="5591360"/>
            <a:ext cx="3096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i="1" dirty="0">
                <a:solidFill>
                  <a:schemeClr val="bg1"/>
                </a:solidFill>
              </a:rPr>
              <a:t>A termék átadása sikeresen megtörtént</a:t>
            </a:r>
          </a:p>
        </p:txBody>
      </p:sp>
      <p:sp>
        <p:nvSpPr>
          <p:cNvPr id="68" name="Szövegdoboz 67">
            <a:extLst>
              <a:ext uri="{FF2B5EF4-FFF2-40B4-BE49-F238E27FC236}">
                <a16:creationId xmlns:a16="http://schemas.microsoft.com/office/drawing/2014/main" id="{F5B2353B-3DAF-C576-5542-F53838A276AC}"/>
              </a:ext>
            </a:extLst>
          </p:cNvPr>
          <p:cNvSpPr txBox="1"/>
          <p:nvPr/>
        </p:nvSpPr>
        <p:spPr>
          <a:xfrm>
            <a:off x="8695679" y="5591360"/>
            <a:ext cx="3096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i="1" dirty="0">
                <a:solidFill>
                  <a:schemeClr val="bg1"/>
                </a:solidFill>
              </a:rPr>
              <a:t>Valamelyik fél elutasította az igénylést</a:t>
            </a:r>
          </a:p>
        </p:txBody>
      </p:sp>
    </p:spTree>
    <p:extLst>
      <p:ext uri="{BB962C8B-B14F-4D97-AF65-F5344CB8AC3E}">
        <p14:creationId xmlns:p14="http://schemas.microsoft.com/office/powerpoint/2010/main" val="228401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BF3336-6C96-3A43-A7F5-BB1EDD96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Igénylési limit rendszer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386E92-58BF-6D05-1191-9D83E6D2B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21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991AEA-2C09-C40B-2688-A3AD7D08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Tesztelések és ellenőrzés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74C3F0-B29D-8E8F-C69C-839E3C22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251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601C23-2872-C75A-AB94-E1309D3A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Csapatmunka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8D33A8-76C7-1D3E-F8C6-105397C2D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B90DB2E-B22C-18FE-5438-58180129B9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04409FD1-21C1-F275-9D0E-960D7E698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9CFF4CD-977A-EEBB-D160-3838D65622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336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D705C8-1D73-0BDE-4150-F9A1E721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Kihívások és megoldások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8B6E80-96DC-657D-ADBA-DB2DB3A41D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506E4A3-B58E-AAE3-B7D6-74FECC0E05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700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8653CA-1C93-091D-9474-17AB7CC0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lehetőségek</a:t>
            </a:r>
          </a:p>
        </p:txBody>
      </p:sp>
      <p:sp>
        <p:nvSpPr>
          <p:cNvPr id="32" name="Nyíl: jobbra mutató 31">
            <a:extLst>
              <a:ext uri="{FF2B5EF4-FFF2-40B4-BE49-F238E27FC236}">
                <a16:creationId xmlns:a16="http://schemas.microsoft.com/office/drawing/2014/main" id="{5EF55882-76E1-5E12-1D26-2DBA158B1010}"/>
              </a:ext>
            </a:extLst>
          </p:cNvPr>
          <p:cNvSpPr/>
          <p:nvPr/>
        </p:nvSpPr>
        <p:spPr>
          <a:xfrm>
            <a:off x="2641097" y="2841945"/>
            <a:ext cx="3454903" cy="62867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Nyíl: jobbra mutató 32">
            <a:extLst>
              <a:ext uri="{FF2B5EF4-FFF2-40B4-BE49-F238E27FC236}">
                <a16:creationId xmlns:a16="http://schemas.microsoft.com/office/drawing/2014/main" id="{B2A5573F-210C-846C-0F25-5F57738E0172}"/>
              </a:ext>
            </a:extLst>
          </p:cNvPr>
          <p:cNvSpPr/>
          <p:nvPr/>
        </p:nvSpPr>
        <p:spPr>
          <a:xfrm>
            <a:off x="2687835" y="3937651"/>
            <a:ext cx="3454903" cy="62867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Nyíl: jobbra mutató 33">
            <a:extLst>
              <a:ext uri="{FF2B5EF4-FFF2-40B4-BE49-F238E27FC236}">
                <a16:creationId xmlns:a16="http://schemas.microsoft.com/office/drawing/2014/main" id="{725630B5-2F7B-F578-7A95-3426F714271A}"/>
              </a:ext>
            </a:extLst>
          </p:cNvPr>
          <p:cNvSpPr/>
          <p:nvPr/>
        </p:nvSpPr>
        <p:spPr>
          <a:xfrm>
            <a:off x="2641096" y="5183659"/>
            <a:ext cx="3454903" cy="628672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31445940-7450-510E-23DC-FEEB212613B6}"/>
              </a:ext>
            </a:extLst>
          </p:cNvPr>
          <p:cNvGrpSpPr/>
          <p:nvPr/>
        </p:nvGrpSpPr>
        <p:grpSpPr>
          <a:xfrm>
            <a:off x="754944" y="2518715"/>
            <a:ext cx="1979629" cy="3655373"/>
            <a:chOff x="956807" y="2773239"/>
            <a:chExt cx="1979629" cy="3655373"/>
          </a:xfrm>
        </p:grpSpPr>
        <p:grpSp>
          <p:nvGrpSpPr>
            <p:cNvPr id="29" name="Csoportba foglalás 28">
              <a:extLst>
                <a:ext uri="{FF2B5EF4-FFF2-40B4-BE49-F238E27FC236}">
                  <a16:creationId xmlns:a16="http://schemas.microsoft.com/office/drawing/2014/main" id="{5F48E18A-BB82-26D1-530F-3C8A2F8711F5}"/>
                </a:ext>
              </a:extLst>
            </p:cNvPr>
            <p:cNvGrpSpPr/>
            <p:nvPr/>
          </p:nvGrpSpPr>
          <p:grpSpPr>
            <a:xfrm>
              <a:off x="956807" y="2773239"/>
              <a:ext cx="1979629" cy="3655373"/>
              <a:chOff x="3784848" y="3008909"/>
              <a:chExt cx="1979629" cy="3655373"/>
            </a:xfrm>
          </p:grpSpPr>
          <p:sp>
            <p:nvSpPr>
              <p:cNvPr id="13" name="Folyamatábra: Másik feldolgozás 12">
                <a:extLst>
                  <a:ext uri="{FF2B5EF4-FFF2-40B4-BE49-F238E27FC236}">
                    <a16:creationId xmlns:a16="http://schemas.microsoft.com/office/drawing/2014/main" id="{D3DDB86A-EF9F-9C2A-A8F7-4373859E4C8A}"/>
                  </a:ext>
                </a:extLst>
              </p:cNvPr>
              <p:cNvSpPr/>
              <p:nvPr/>
            </p:nvSpPr>
            <p:spPr>
              <a:xfrm>
                <a:off x="3784848" y="3008909"/>
                <a:ext cx="1979629" cy="1484886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" name="Folyamatábra: Másik feldolgozás 13">
                <a:extLst>
                  <a:ext uri="{FF2B5EF4-FFF2-40B4-BE49-F238E27FC236}">
                    <a16:creationId xmlns:a16="http://schemas.microsoft.com/office/drawing/2014/main" id="{5E53AE89-283A-DD24-EB57-9E3F0E35A46F}"/>
                  </a:ext>
                </a:extLst>
              </p:cNvPr>
              <p:cNvSpPr/>
              <p:nvPr/>
            </p:nvSpPr>
            <p:spPr>
              <a:xfrm>
                <a:off x="3784848" y="4041311"/>
                <a:ext cx="1979629" cy="1484886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5" name="Folyamatábra: Másik feldolgozás 14">
                <a:extLst>
                  <a:ext uri="{FF2B5EF4-FFF2-40B4-BE49-F238E27FC236}">
                    <a16:creationId xmlns:a16="http://schemas.microsoft.com/office/drawing/2014/main" id="{559C9F40-E70E-EE9B-0714-DE1375530A1A}"/>
                  </a:ext>
                </a:extLst>
              </p:cNvPr>
              <p:cNvSpPr/>
              <p:nvPr/>
            </p:nvSpPr>
            <p:spPr>
              <a:xfrm>
                <a:off x="3784848" y="5179396"/>
                <a:ext cx="1979629" cy="1484886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2" name="Tartalom helye 4" descr="Boríték egyszínű kitöltéssel">
                <a:extLst>
                  <a:ext uri="{FF2B5EF4-FFF2-40B4-BE49-F238E27FC236}">
                    <a16:creationId xmlns:a16="http://schemas.microsoft.com/office/drawing/2014/main" id="{8B91DB40-A16B-0FEC-0511-103AF88D5D5F}"/>
                  </a:ext>
                </a:extLst>
              </p:cNvPr>
              <p:cNvSpPr/>
              <p:nvPr/>
            </p:nvSpPr>
            <p:spPr>
              <a:xfrm>
                <a:off x="4799022" y="4394584"/>
                <a:ext cx="762000" cy="533400"/>
              </a:xfrm>
              <a:custGeom>
                <a:avLst/>
                <a:gdLst>
                  <a:gd name="csX0" fmla="*/ 0 w 762000"/>
                  <a:gd name="csY0" fmla="*/ 0 h 533400"/>
                  <a:gd name="csX1" fmla="*/ 0 w 762000"/>
                  <a:gd name="csY1" fmla="*/ 533400 h 533400"/>
                  <a:gd name="csX2" fmla="*/ 762000 w 762000"/>
                  <a:gd name="csY2" fmla="*/ 533400 h 533400"/>
                  <a:gd name="csX3" fmla="*/ 762000 w 762000"/>
                  <a:gd name="csY3" fmla="*/ 0 h 533400"/>
                  <a:gd name="csX4" fmla="*/ 0 w 762000"/>
                  <a:gd name="csY4" fmla="*/ 0 h 533400"/>
                  <a:gd name="csX5" fmla="*/ 394335 w 762000"/>
                  <a:gd name="csY5" fmla="*/ 332423 h 533400"/>
                  <a:gd name="csX6" fmla="*/ 367665 w 762000"/>
                  <a:gd name="csY6" fmla="*/ 332423 h 533400"/>
                  <a:gd name="csX7" fmla="*/ 85725 w 762000"/>
                  <a:gd name="csY7" fmla="*/ 57150 h 533400"/>
                  <a:gd name="csX8" fmla="*/ 677228 w 762000"/>
                  <a:gd name="csY8" fmla="*/ 57150 h 533400"/>
                  <a:gd name="csX9" fmla="*/ 394335 w 762000"/>
                  <a:gd name="csY9" fmla="*/ 332423 h 533400"/>
                  <a:gd name="csX10" fmla="*/ 242888 w 762000"/>
                  <a:gd name="csY10" fmla="*/ 263843 h 533400"/>
                  <a:gd name="csX11" fmla="*/ 57150 w 762000"/>
                  <a:gd name="csY11" fmla="*/ 450533 h 533400"/>
                  <a:gd name="csX12" fmla="*/ 57150 w 762000"/>
                  <a:gd name="csY12" fmla="*/ 81915 h 533400"/>
                  <a:gd name="csX13" fmla="*/ 242888 w 762000"/>
                  <a:gd name="csY13" fmla="*/ 263843 h 533400"/>
                  <a:gd name="csX14" fmla="*/ 270510 w 762000"/>
                  <a:gd name="csY14" fmla="*/ 290513 h 533400"/>
                  <a:gd name="csX15" fmla="*/ 341948 w 762000"/>
                  <a:gd name="csY15" fmla="*/ 360045 h 533400"/>
                  <a:gd name="csX16" fmla="*/ 381953 w 762000"/>
                  <a:gd name="csY16" fmla="*/ 376238 h 533400"/>
                  <a:gd name="csX17" fmla="*/ 421958 w 762000"/>
                  <a:gd name="csY17" fmla="*/ 360045 h 533400"/>
                  <a:gd name="csX18" fmla="*/ 493395 w 762000"/>
                  <a:gd name="csY18" fmla="*/ 290513 h 533400"/>
                  <a:gd name="csX19" fmla="*/ 678180 w 762000"/>
                  <a:gd name="csY19" fmla="*/ 476250 h 533400"/>
                  <a:gd name="csX20" fmla="*/ 84773 w 762000"/>
                  <a:gd name="csY20" fmla="*/ 476250 h 533400"/>
                  <a:gd name="csX21" fmla="*/ 270510 w 762000"/>
                  <a:gd name="csY21" fmla="*/ 290513 h 533400"/>
                  <a:gd name="csX22" fmla="*/ 519113 w 762000"/>
                  <a:gd name="csY22" fmla="*/ 263843 h 533400"/>
                  <a:gd name="csX23" fmla="*/ 704850 w 762000"/>
                  <a:gd name="csY23" fmla="*/ 82868 h 533400"/>
                  <a:gd name="csX24" fmla="*/ 704850 w 762000"/>
                  <a:gd name="csY24" fmla="*/ 449580 h 533400"/>
                  <a:gd name="csX25" fmla="*/ 519113 w 762000"/>
                  <a:gd name="csY25" fmla="*/ 263843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762000" h="533400">
                    <a:moveTo>
                      <a:pt x="0" y="0"/>
                    </a:moveTo>
                    <a:lnTo>
                      <a:pt x="0" y="533400"/>
                    </a:lnTo>
                    <a:lnTo>
                      <a:pt x="762000" y="533400"/>
                    </a:lnTo>
                    <a:lnTo>
                      <a:pt x="762000" y="0"/>
                    </a:lnTo>
                    <a:lnTo>
                      <a:pt x="0" y="0"/>
                    </a:lnTo>
                    <a:close/>
                    <a:moveTo>
                      <a:pt x="394335" y="332423"/>
                    </a:moveTo>
                    <a:cubicBezTo>
                      <a:pt x="386715" y="340043"/>
                      <a:pt x="375285" y="340043"/>
                      <a:pt x="367665" y="332423"/>
                    </a:cubicBezTo>
                    <a:lnTo>
                      <a:pt x="85725" y="57150"/>
                    </a:lnTo>
                    <a:lnTo>
                      <a:pt x="677228" y="57150"/>
                    </a:lnTo>
                    <a:lnTo>
                      <a:pt x="394335" y="332423"/>
                    </a:lnTo>
                    <a:close/>
                    <a:moveTo>
                      <a:pt x="242888" y="263843"/>
                    </a:moveTo>
                    <a:lnTo>
                      <a:pt x="57150" y="450533"/>
                    </a:lnTo>
                    <a:lnTo>
                      <a:pt x="57150" y="81915"/>
                    </a:lnTo>
                    <a:lnTo>
                      <a:pt x="242888" y="263843"/>
                    </a:lnTo>
                    <a:close/>
                    <a:moveTo>
                      <a:pt x="270510" y="290513"/>
                    </a:moveTo>
                    <a:lnTo>
                      <a:pt x="341948" y="360045"/>
                    </a:lnTo>
                    <a:cubicBezTo>
                      <a:pt x="353378" y="370523"/>
                      <a:pt x="367665" y="376238"/>
                      <a:pt x="381953" y="376238"/>
                    </a:cubicBezTo>
                    <a:cubicBezTo>
                      <a:pt x="396240" y="376238"/>
                      <a:pt x="410528" y="370523"/>
                      <a:pt x="421958" y="360045"/>
                    </a:cubicBezTo>
                    <a:lnTo>
                      <a:pt x="493395" y="290513"/>
                    </a:lnTo>
                    <a:lnTo>
                      <a:pt x="678180" y="476250"/>
                    </a:lnTo>
                    <a:lnTo>
                      <a:pt x="84773" y="476250"/>
                    </a:lnTo>
                    <a:lnTo>
                      <a:pt x="270510" y="290513"/>
                    </a:lnTo>
                    <a:close/>
                    <a:moveTo>
                      <a:pt x="519113" y="263843"/>
                    </a:moveTo>
                    <a:lnTo>
                      <a:pt x="704850" y="82868"/>
                    </a:lnTo>
                    <a:lnTo>
                      <a:pt x="704850" y="449580"/>
                    </a:lnTo>
                    <a:lnTo>
                      <a:pt x="519113" y="263843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4" name="Szabadkézi sokszög: alakzat 23">
                <a:extLst>
                  <a:ext uri="{FF2B5EF4-FFF2-40B4-BE49-F238E27FC236}">
                    <a16:creationId xmlns:a16="http://schemas.microsoft.com/office/drawing/2014/main" id="{31A2B790-077D-E2DE-EF54-ABDA0F1C9181}"/>
                  </a:ext>
                </a:extLst>
              </p:cNvPr>
              <p:cNvSpPr/>
              <p:nvPr/>
            </p:nvSpPr>
            <p:spPr>
              <a:xfrm>
                <a:off x="4412712" y="3199687"/>
                <a:ext cx="723900" cy="714375"/>
              </a:xfrm>
              <a:custGeom>
                <a:avLst/>
                <a:gdLst>
                  <a:gd name="csX0" fmla="*/ 628650 w 723900"/>
                  <a:gd name="csY0" fmla="*/ 104775 h 714375"/>
                  <a:gd name="csX1" fmla="*/ 628650 w 723900"/>
                  <a:gd name="csY1" fmla="*/ 447675 h 714375"/>
                  <a:gd name="csX2" fmla="*/ 95250 w 723900"/>
                  <a:gd name="csY2" fmla="*/ 447675 h 714375"/>
                  <a:gd name="csX3" fmla="*/ 95250 w 723900"/>
                  <a:gd name="csY3" fmla="*/ 104775 h 714375"/>
                  <a:gd name="csX4" fmla="*/ 704850 w 723900"/>
                  <a:gd name="csY4" fmla="*/ 466725 h 714375"/>
                  <a:gd name="csX5" fmla="*/ 685800 w 723900"/>
                  <a:gd name="csY5" fmla="*/ 466725 h 714375"/>
                  <a:gd name="csX6" fmla="*/ 685800 w 723900"/>
                  <a:gd name="csY6" fmla="*/ 76200 h 714375"/>
                  <a:gd name="csX7" fmla="*/ 704850 w 723900"/>
                  <a:gd name="csY7" fmla="*/ 76200 h 714375"/>
                  <a:gd name="csX8" fmla="*/ 723900 w 723900"/>
                  <a:gd name="csY8" fmla="*/ 57150 h 714375"/>
                  <a:gd name="csX9" fmla="*/ 704850 w 723900"/>
                  <a:gd name="csY9" fmla="*/ 38100 h 714375"/>
                  <a:gd name="csX10" fmla="*/ 381000 w 723900"/>
                  <a:gd name="csY10" fmla="*/ 38100 h 714375"/>
                  <a:gd name="csX11" fmla="*/ 381000 w 723900"/>
                  <a:gd name="csY11" fmla="*/ 19050 h 714375"/>
                  <a:gd name="csX12" fmla="*/ 361950 w 723900"/>
                  <a:gd name="csY12" fmla="*/ 0 h 714375"/>
                  <a:gd name="csX13" fmla="*/ 342900 w 723900"/>
                  <a:gd name="csY13" fmla="*/ 19050 h 714375"/>
                  <a:gd name="csX14" fmla="*/ 342900 w 723900"/>
                  <a:gd name="csY14" fmla="*/ 38100 h 714375"/>
                  <a:gd name="csX15" fmla="*/ 19050 w 723900"/>
                  <a:gd name="csY15" fmla="*/ 38100 h 714375"/>
                  <a:gd name="csX16" fmla="*/ 0 w 723900"/>
                  <a:gd name="csY16" fmla="*/ 57150 h 714375"/>
                  <a:gd name="csX17" fmla="*/ 19050 w 723900"/>
                  <a:gd name="csY17" fmla="*/ 76200 h 714375"/>
                  <a:gd name="csX18" fmla="*/ 38100 w 723900"/>
                  <a:gd name="csY18" fmla="*/ 76200 h 714375"/>
                  <a:gd name="csX19" fmla="*/ 38100 w 723900"/>
                  <a:gd name="csY19" fmla="*/ 466725 h 714375"/>
                  <a:gd name="csX20" fmla="*/ 19050 w 723900"/>
                  <a:gd name="csY20" fmla="*/ 466725 h 714375"/>
                  <a:gd name="csX21" fmla="*/ 0 w 723900"/>
                  <a:gd name="csY21" fmla="*/ 485775 h 714375"/>
                  <a:gd name="csX22" fmla="*/ 19050 w 723900"/>
                  <a:gd name="csY22" fmla="*/ 504825 h 714375"/>
                  <a:gd name="csX23" fmla="*/ 309944 w 723900"/>
                  <a:gd name="csY23" fmla="*/ 504825 h 714375"/>
                  <a:gd name="csX24" fmla="*/ 163259 w 723900"/>
                  <a:gd name="csY24" fmla="*/ 651510 h 714375"/>
                  <a:gd name="csX25" fmla="*/ 163401 w 723900"/>
                  <a:gd name="csY25" fmla="*/ 678609 h 714375"/>
                  <a:gd name="csX26" fmla="*/ 190500 w 723900"/>
                  <a:gd name="csY26" fmla="*/ 678466 h 714375"/>
                  <a:gd name="csX27" fmla="*/ 342900 w 723900"/>
                  <a:gd name="csY27" fmla="*/ 526066 h 714375"/>
                  <a:gd name="csX28" fmla="*/ 342900 w 723900"/>
                  <a:gd name="csY28" fmla="*/ 695325 h 714375"/>
                  <a:gd name="csX29" fmla="*/ 361950 w 723900"/>
                  <a:gd name="csY29" fmla="*/ 714375 h 714375"/>
                  <a:gd name="csX30" fmla="*/ 381000 w 723900"/>
                  <a:gd name="csY30" fmla="*/ 695325 h 714375"/>
                  <a:gd name="csX31" fmla="*/ 381000 w 723900"/>
                  <a:gd name="csY31" fmla="*/ 525780 h 714375"/>
                  <a:gd name="csX32" fmla="*/ 533400 w 723900"/>
                  <a:gd name="csY32" fmla="*/ 678180 h 714375"/>
                  <a:gd name="csX33" fmla="*/ 560356 w 723900"/>
                  <a:gd name="csY33" fmla="*/ 678180 h 714375"/>
                  <a:gd name="csX34" fmla="*/ 560356 w 723900"/>
                  <a:gd name="csY34" fmla="*/ 651224 h 714375"/>
                  <a:gd name="csX35" fmla="*/ 413957 w 723900"/>
                  <a:gd name="csY35" fmla="*/ 504825 h 714375"/>
                  <a:gd name="csX36" fmla="*/ 704850 w 723900"/>
                  <a:gd name="csY36" fmla="*/ 504825 h 714375"/>
                  <a:gd name="csX37" fmla="*/ 723900 w 723900"/>
                  <a:gd name="csY37" fmla="*/ 485775 h 714375"/>
                  <a:gd name="csX38" fmla="*/ 704850 w 723900"/>
                  <a:gd name="csY38" fmla="*/ 466725 h 714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</a:cxnLst>
                <a:rect l="l" t="t" r="r" b="b"/>
                <a:pathLst>
                  <a:path w="723900" h="714375">
                    <a:moveTo>
                      <a:pt x="628650" y="104775"/>
                    </a:moveTo>
                    <a:lnTo>
                      <a:pt x="628650" y="447675"/>
                    </a:lnTo>
                    <a:lnTo>
                      <a:pt x="95250" y="447675"/>
                    </a:lnTo>
                    <a:lnTo>
                      <a:pt x="95250" y="104775"/>
                    </a:lnTo>
                    <a:close/>
                    <a:moveTo>
                      <a:pt x="704850" y="466725"/>
                    </a:moveTo>
                    <a:lnTo>
                      <a:pt x="685800" y="466725"/>
                    </a:lnTo>
                    <a:lnTo>
                      <a:pt x="685800" y="76200"/>
                    </a:lnTo>
                    <a:lnTo>
                      <a:pt x="704850" y="76200"/>
                    </a:lnTo>
                    <a:cubicBezTo>
                      <a:pt x="715371" y="76200"/>
                      <a:pt x="723900" y="67671"/>
                      <a:pt x="723900" y="57150"/>
                    </a:cubicBezTo>
                    <a:cubicBezTo>
                      <a:pt x="723900" y="46629"/>
                      <a:pt x="715371" y="38100"/>
                      <a:pt x="704850" y="38100"/>
                    </a:cubicBezTo>
                    <a:lnTo>
                      <a:pt x="381000" y="38100"/>
                    </a:lnTo>
                    <a:lnTo>
                      <a:pt x="381000" y="19050"/>
                    </a:lnTo>
                    <a:cubicBezTo>
                      <a:pt x="381000" y="8529"/>
                      <a:pt x="372471" y="0"/>
                      <a:pt x="361950" y="0"/>
                    </a:cubicBezTo>
                    <a:cubicBezTo>
                      <a:pt x="351429" y="0"/>
                      <a:pt x="342900" y="8529"/>
                      <a:pt x="342900" y="19050"/>
                    </a:cubicBezTo>
                    <a:lnTo>
                      <a:pt x="342900" y="38100"/>
                    </a:lnTo>
                    <a:lnTo>
                      <a:pt x="19050" y="38100"/>
                    </a:lnTo>
                    <a:cubicBezTo>
                      <a:pt x="8529" y="38100"/>
                      <a:pt x="0" y="46629"/>
                      <a:pt x="0" y="57150"/>
                    </a:cubicBez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38100" y="76200"/>
                    </a:lnTo>
                    <a:lnTo>
                      <a:pt x="38100" y="466725"/>
                    </a:lnTo>
                    <a:lnTo>
                      <a:pt x="19050" y="466725"/>
                    </a:lnTo>
                    <a:cubicBezTo>
                      <a:pt x="8529" y="466725"/>
                      <a:pt x="0" y="475254"/>
                      <a:pt x="0" y="485775"/>
                    </a:cubicBezTo>
                    <a:cubicBezTo>
                      <a:pt x="0" y="496296"/>
                      <a:pt x="8529" y="504825"/>
                      <a:pt x="19050" y="504825"/>
                    </a:cubicBezTo>
                    <a:lnTo>
                      <a:pt x="309944" y="504825"/>
                    </a:lnTo>
                    <a:lnTo>
                      <a:pt x="163259" y="651510"/>
                    </a:lnTo>
                    <a:cubicBezTo>
                      <a:pt x="155815" y="659033"/>
                      <a:pt x="155879" y="671165"/>
                      <a:pt x="163401" y="678609"/>
                    </a:cubicBezTo>
                    <a:cubicBezTo>
                      <a:pt x="170924" y="686052"/>
                      <a:pt x="183056" y="685989"/>
                      <a:pt x="190500" y="678466"/>
                    </a:cubicBezTo>
                    <a:lnTo>
                      <a:pt x="342900" y="526066"/>
                    </a:lnTo>
                    <a:lnTo>
                      <a:pt x="342900" y="695325"/>
                    </a:lnTo>
                    <a:cubicBezTo>
                      <a:pt x="342900" y="705846"/>
                      <a:pt x="351429" y="714375"/>
                      <a:pt x="361950" y="714375"/>
                    </a:cubicBezTo>
                    <a:cubicBezTo>
                      <a:pt x="372471" y="714375"/>
                      <a:pt x="381000" y="705846"/>
                      <a:pt x="381000" y="695325"/>
                    </a:cubicBezTo>
                    <a:lnTo>
                      <a:pt x="381000" y="525780"/>
                    </a:lnTo>
                    <a:lnTo>
                      <a:pt x="533400" y="678180"/>
                    </a:lnTo>
                    <a:cubicBezTo>
                      <a:pt x="540844" y="685624"/>
                      <a:pt x="552912" y="685624"/>
                      <a:pt x="560356" y="678180"/>
                    </a:cubicBezTo>
                    <a:cubicBezTo>
                      <a:pt x="567800" y="670736"/>
                      <a:pt x="567800" y="658668"/>
                      <a:pt x="560356" y="651224"/>
                    </a:cubicBezTo>
                    <a:lnTo>
                      <a:pt x="413957" y="504825"/>
                    </a:lnTo>
                    <a:lnTo>
                      <a:pt x="704850" y="504825"/>
                    </a:lnTo>
                    <a:cubicBezTo>
                      <a:pt x="715371" y="504825"/>
                      <a:pt x="723900" y="496296"/>
                      <a:pt x="723900" y="485775"/>
                    </a:cubicBezTo>
                    <a:cubicBezTo>
                      <a:pt x="723900" y="475254"/>
                      <a:pt x="715371" y="466725"/>
                      <a:pt x="704850" y="4667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8" name="Ábra 8" descr="Okostelefon egyszínű kitöltéssel">
                <a:extLst>
                  <a:ext uri="{FF2B5EF4-FFF2-40B4-BE49-F238E27FC236}">
                    <a16:creationId xmlns:a16="http://schemas.microsoft.com/office/drawing/2014/main" id="{5BB557DB-276A-6A3D-8795-75BD6C25D8F1}"/>
                  </a:ext>
                </a:extLst>
              </p:cNvPr>
              <p:cNvSpPr/>
              <p:nvPr/>
            </p:nvSpPr>
            <p:spPr>
              <a:xfrm>
                <a:off x="4546063" y="5401408"/>
                <a:ext cx="457200" cy="838200"/>
              </a:xfrm>
              <a:custGeom>
                <a:avLst/>
                <a:gdLst>
                  <a:gd name="csX0" fmla="*/ 400050 w 457200"/>
                  <a:gd name="csY0" fmla="*/ 723900 h 838200"/>
                  <a:gd name="csX1" fmla="*/ 57150 w 457200"/>
                  <a:gd name="csY1" fmla="*/ 723900 h 838200"/>
                  <a:gd name="csX2" fmla="*/ 57150 w 457200"/>
                  <a:gd name="csY2" fmla="*/ 114300 h 838200"/>
                  <a:gd name="csX3" fmla="*/ 400050 w 457200"/>
                  <a:gd name="csY3" fmla="*/ 114300 h 838200"/>
                  <a:gd name="csX4" fmla="*/ 400050 w 457200"/>
                  <a:gd name="csY4" fmla="*/ 723900 h 838200"/>
                  <a:gd name="csX5" fmla="*/ 190500 w 457200"/>
                  <a:gd name="csY5" fmla="*/ 38100 h 838200"/>
                  <a:gd name="csX6" fmla="*/ 266700 w 457200"/>
                  <a:gd name="csY6" fmla="*/ 38100 h 838200"/>
                  <a:gd name="csX7" fmla="*/ 285750 w 457200"/>
                  <a:gd name="csY7" fmla="*/ 57150 h 838200"/>
                  <a:gd name="csX8" fmla="*/ 266700 w 457200"/>
                  <a:gd name="csY8" fmla="*/ 76200 h 838200"/>
                  <a:gd name="csX9" fmla="*/ 190500 w 457200"/>
                  <a:gd name="csY9" fmla="*/ 76200 h 838200"/>
                  <a:gd name="csX10" fmla="*/ 171450 w 457200"/>
                  <a:gd name="csY10" fmla="*/ 57150 h 838200"/>
                  <a:gd name="csX11" fmla="*/ 190500 w 457200"/>
                  <a:gd name="csY11" fmla="*/ 38100 h 838200"/>
                  <a:gd name="csX12" fmla="*/ 438150 w 457200"/>
                  <a:gd name="csY12" fmla="*/ 0 h 838200"/>
                  <a:gd name="csX13" fmla="*/ 19050 w 457200"/>
                  <a:gd name="csY13" fmla="*/ 0 h 838200"/>
                  <a:gd name="csX14" fmla="*/ 0 w 457200"/>
                  <a:gd name="csY14" fmla="*/ 19050 h 838200"/>
                  <a:gd name="csX15" fmla="*/ 0 w 457200"/>
                  <a:gd name="csY15" fmla="*/ 819150 h 838200"/>
                  <a:gd name="csX16" fmla="*/ 19050 w 457200"/>
                  <a:gd name="csY16" fmla="*/ 838200 h 838200"/>
                  <a:gd name="csX17" fmla="*/ 438150 w 457200"/>
                  <a:gd name="csY17" fmla="*/ 838200 h 838200"/>
                  <a:gd name="csX18" fmla="*/ 457200 w 457200"/>
                  <a:gd name="csY18" fmla="*/ 819150 h 838200"/>
                  <a:gd name="csX19" fmla="*/ 457200 w 457200"/>
                  <a:gd name="csY19" fmla="*/ 19050 h 838200"/>
                  <a:gd name="csX20" fmla="*/ 438150 w 457200"/>
                  <a:gd name="csY20" fmla="*/ 0 h 8382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457200" h="838200">
                    <a:moveTo>
                      <a:pt x="400050" y="723900"/>
                    </a:moveTo>
                    <a:lnTo>
                      <a:pt x="57150" y="723900"/>
                    </a:lnTo>
                    <a:lnTo>
                      <a:pt x="57150" y="114300"/>
                    </a:lnTo>
                    <a:lnTo>
                      <a:pt x="400050" y="114300"/>
                    </a:lnTo>
                    <a:lnTo>
                      <a:pt x="400050" y="723900"/>
                    </a:lnTo>
                    <a:close/>
                    <a:moveTo>
                      <a:pt x="190500" y="38100"/>
                    </a:moveTo>
                    <a:lnTo>
                      <a:pt x="266700" y="38100"/>
                    </a:lnTo>
                    <a:cubicBezTo>
                      <a:pt x="277178" y="38100"/>
                      <a:pt x="285750" y="46672"/>
                      <a:pt x="285750" y="57150"/>
                    </a:cubicBezTo>
                    <a:cubicBezTo>
                      <a:pt x="285750" y="67628"/>
                      <a:pt x="277178" y="76200"/>
                      <a:pt x="266700" y="76200"/>
                    </a:cubicBezTo>
                    <a:lnTo>
                      <a:pt x="190500" y="76200"/>
                    </a:lnTo>
                    <a:cubicBezTo>
                      <a:pt x="180023" y="76200"/>
                      <a:pt x="171450" y="67628"/>
                      <a:pt x="171450" y="57150"/>
                    </a:cubicBezTo>
                    <a:cubicBezTo>
                      <a:pt x="171450" y="46672"/>
                      <a:pt x="180023" y="38100"/>
                      <a:pt x="190500" y="38100"/>
                    </a:cubicBezTo>
                    <a:close/>
                    <a:moveTo>
                      <a:pt x="438150" y="0"/>
                    </a:moveTo>
                    <a:lnTo>
                      <a:pt x="19050" y="0"/>
                    </a:lnTo>
                    <a:cubicBezTo>
                      <a:pt x="8572" y="0"/>
                      <a:pt x="0" y="8573"/>
                      <a:pt x="0" y="19050"/>
                    </a:cubicBezTo>
                    <a:lnTo>
                      <a:pt x="0" y="819150"/>
                    </a:lnTo>
                    <a:cubicBezTo>
                      <a:pt x="0" y="829628"/>
                      <a:pt x="8572" y="838200"/>
                      <a:pt x="19050" y="838200"/>
                    </a:cubicBezTo>
                    <a:lnTo>
                      <a:pt x="438150" y="838200"/>
                    </a:lnTo>
                    <a:cubicBezTo>
                      <a:pt x="448628" y="838200"/>
                      <a:pt x="457200" y="829628"/>
                      <a:pt x="457200" y="819150"/>
                    </a:cubicBezTo>
                    <a:lnTo>
                      <a:pt x="457200" y="19050"/>
                    </a:lnTo>
                    <a:cubicBezTo>
                      <a:pt x="457200" y="8573"/>
                      <a:pt x="448628" y="0"/>
                      <a:pt x="43815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1" name="Ábra 10" descr="Beszéd egyszínű kitöltéssel">
                <a:extLst>
                  <a:ext uri="{FF2B5EF4-FFF2-40B4-BE49-F238E27FC236}">
                    <a16:creationId xmlns:a16="http://schemas.microsoft.com/office/drawing/2014/main" id="{CE0E66CE-0DDD-5E95-6EED-196399BBC205}"/>
                  </a:ext>
                </a:extLst>
              </p:cNvPr>
              <p:cNvSpPr/>
              <p:nvPr/>
            </p:nvSpPr>
            <p:spPr>
              <a:xfrm>
                <a:off x="3993613" y="4427845"/>
                <a:ext cx="647700" cy="590550"/>
              </a:xfrm>
              <a:custGeom>
                <a:avLst/>
                <a:gdLst>
                  <a:gd name="csX0" fmla="*/ 615315 w 647700"/>
                  <a:gd name="csY0" fmla="*/ 0 h 590550"/>
                  <a:gd name="csX1" fmla="*/ 32385 w 647700"/>
                  <a:gd name="csY1" fmla="*/ 0 h 590550"/>
                  <a:gd name="csX2" fmla="*/ 0 w 647700"/>
                  <a:gd name="csY2" fmla="*/ 32385 h 590550"/>
                  <a:gd name="csX3" fmla="*/ 0 w 647700"/>
                  <a:gd name="csY3" fmla="*/ 425768 h 590550"/>
                  <a:gd name="csX4" fmla="*/ 32385 w 647700"/>
                  <a:gd name="csY4" fmla="*/ 458153 h 590550"/>
                  <a:gd name="csX5" fmla="*/ 388620 w 647700"/>
                  <a:gd name="csY5" fmla="*/ 458153 h 590550"/>
                  <a:gd name="csX6" fmla="*/ 518160 w 647700"/>
                  <a:gd name="csY6" fmla="*/ 590550 h 590550"/>
                  <a:gd name="csX7" fmla="*/ 518160 w 647700"/>
                  <a:gd name="csY7" fmla="*/ 459105 h 590550"/>
                  <a:gd name="csX8" fmla="*/ 615315 w 647700"/>
                  <a:gd name="csY8" fmla="*/ 459105 h 590550"/>
                  <a:gd name="csX9" fmla="*/ 647700 w 647700"/>
                  <a:gd name="csY9" fmla="*/ 426720 h 590550"/>
                  <a:gd name="csX10" fmla="*/ 647700 w 647700"/>
                  <a:gd name="csY10" fmla="*/ 33338 h 590550"/>
                  <a:gd name="csX11" fmla="*/ 615315 w 647700"/>
                  <a:gd name="csY11" fmla="*/ 0 h 590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590550">
                    <a:moveTo>
                      <a:pt x="615315" y="0"/>
                    </a:moveTo>
                    <a:lnTo>
                      <a:pt x="32385" y="0"/>
                    </a:lnTo>
                    <a:cubicBezTo>
                      <a:pt x="14288" y="0"/>
                      <a:pt x="0" y="15240"/>
                      <a:pt x="0" y="32385"/>
                    </a:cubicBezTo>
                    <a:lnTo>
                      <a:pt x="0" y="425768"/>
                    </a:lnTo>
                    <a:cubicBezTo>
                      <a:pt x="0" y="443865"/>
                      <a:pt x="14288" y="458153"/>
                      <a:pt x="32385" y="458153"/>
                    </a:cubicBezTo>
                    <a:lnTo>
                      <a:pt x="388620" y="458153"/>
                    </a:lnTo>
                    <a:lnTo>
                      <a:pt x="518160" y="590550"/>
                    </a:lnTo>
                    <a:lnTo>
                      <a:pt x="518160" y="459105"/>
                    </a:lnTo>
                    <a:lnTo>
                      <a:pt x="615315" y="459105"/>
                    </a:lnTo>
                    <a:cubicBezTo>
                      <a:pt x="633413" y="459105"/>
                      <a:pt x="647700" y="443865"/>
                      <a:pt x="647700" y="426720"/>
                    </a:cubicBezTo>
                    <a:lnTo>
                      <a:pt x="647700" y="33338"/>
                    </a:lnTo>
                    <a:cubicBezTo>
                      <a:pt x="647700" y="15240"/>
                      <a:pt x="633413" y="0"/>
                      <a:pt x="61531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42B6BFBA-6641-F744-DCA6-5DBA5399A690}"/>
                </a:ext>
              </a:extLst>
            </p:cNvPr>
            <p:cNvGrpSpPr/>
            <p:nvPr/>
          </p:nvGrpSpPr>
          <p:grpSpPr>
            <a:xfrm>
              <a:off x="1794221" y="3091244"/>
              <a:ext cx="304800" cy="266700"/>
              <a:chOff x="4622262" y="3342562"/>
              <a:chExt cx="304800" cy="266700"/>
            </a:xfrm>
          </p:grpSpPr>
          <p:sp>
            <p:nvSpPr>
              <p:cNvPr id="25" name="Szabadkézi sokszög: alakzat 24">
                <a:extLst>
                  <a:ext uri="{FF2B5EF4-FFF2-40B4-BE49-F238E27FC236}">
                    <a16:creationId xmlns:a16="http://schemas.microsoft.com/office/drawing/2014/main" id="{2B1AB580-395F-45FB-65FD-1BEFA5B4EB1E}"/>
                  </a:ext>
                </a:extLst>
              </p:cNvPr>
              <p:cNvSpPr/>
              <p:nvPr/>
            </p:nvSpPr>
            <p:spPr>
              <a:xfrm>
                <a:off x="4850862" y="3342562"/>
                <a:ext cx="76200" cy="266700"/>
              </a:xfrm>
              <a:custGeom>
                <a:avLst/>
                <a:gdLst>
                  <a:gd name="csX0" fmla="*/ 0 w 76200"/>
                  <a:gd name="csY0" fmla="*/ 0 h 266700"/>
                  <a:gd name="csX1" fmla="*/ 76200 w 76200"/>
                  <a:gd name="csY1" fmla="*/ 0 h 266700"/>
                  <a:gd name="csX2" fmla="*/ 76200 w 76200"/>
                  <a:gd name="csY2" fmla="*/ 266700 h 266700"/>
                  <a:gd name="csX3" fmla="*/ 0 w 76200"/>
                  <a:gd name="csY3" fmla="*/ 266700 h 266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2667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6" name="Szabadkézi sokszög: alakzat 25">
                <a:extLst>
                  <a:ext uri="{FF2B5EF4-FFF2-40B4-BE49-F238E27FC236}">
                    <a16:creationId xmlns:a16="http://schemas.microsoft.com/office/drawing/2014/main" id="{61436625-9366-28B9-9CF1-950D6AFEE51B}"/>
                  </a:ext>
                </a:extLst>
              </p:cNvPr>
              <p:cNvSpPr/>
              <p:nvPr/>
            </p:nvSpPr>
            <p:spPr>
              <a:xfrm>
                <a:off x="4736562" y="3428287"/>
                <a:ext cx="76200" cy="180975"/>
              </a:xfrm>
              <a:custGeom>
                <a:avLst/>
                <a:gdLst>
                  <a:gd name="csX0" fmla="*/ 0 w 76200"/>
                  <a:gd name="csY0" fmla="*/ 0 h 180975"/>
                  <a:gd name="csX1" fmla="*/ 76200 w 76200"/>
                  <a:gd name="csY1" fmla="*/ 0 h 180975"/>
                  <a:gd name="csX2" fmla="*/ 76200 w 76200"/>
                  <a:gd name="csY2" fmla="*/ 180975 h 180975"/>
                  <a:gd name="csX3" fmla="*/ 0 w 76200"/>
                  <a:gd name="csY3" fmla="*/ 180975 h 180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180975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80975"/>
                    </a:lnTo>
                    <a:lnTo>
                      <a:pt x="0" y="1809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  <p:sp>
            <p:nvSpPr>
              <p:cNvPr id="27" name="Szabadkézi sokszög: alakzat 26">
                <a:extLst>
                  <a:ext uri="{FF2B5EF4-FFF2-40B4-BE49-F238E27FC236}">
                    <a16:creationId xmlns:a16="http://schemas.microsoft.com/office/drawing/2014/main" id="{53E30C7F-17AC-DAF4-E485-ED85D85EB4E2}"/>
                  </a:ext>
                </a:extLst>
              </p:cNvPr>
              <p:cNvSpPr/>
              <p:nvPr/>
            </p:nvSpPr>
            <p:spPr>
              <a:xfrm>
                <a:off x="4622262" y="3494962"/>
                <a:ext cx="76200" cy="114300"/>
              </a:xfrm>
              <a:custGeom>
                <a:avLst/>
                <a:gdLst>
                  <a:gd name="csX0" fmla="*/ 0 w 76200"/>
                  <a:gd name="csY0" fmla="*/ 0 h 114300"/>
                  <a:gd name="csX1" fmla="*/ 76200 w 76200"/>
                  <a:gd name="csY1" fmla="*/ 0 h 114300"/>
                  <a:gd name="csX2" fmla="*/ 76200 w 76200"/>
                  <a:gd name="csY2" fmla="*/ 114300 h 114300"/>
                  <a:gd name="csX3" fmla="*/ 0 w 76200"/>
                  <a:gd name="csY3" fmla="*/ 1143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</p:sp>
        </p:grpSp>
      </p:grp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8EC80873-A316-6F63-EA9D-CAB5B10F5E3C}"/>
              </a:ext>
            </a:extLst>
          </p:cNvPr>
          <p:cNvSpPr txBox="1"/>
          <p:nvPr/>
        </p:nvSpPr>
        <p:spPr>
          <a:xfrm>
            <a:off x="6973068" y="4021154"/>
            <a:ext cx="5062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E-mail és Értesítési rendszer</a:t>
            </a: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3C7A1A29-FAFF-AEEB-6081-8F0083C89EC3}"/>
              </a:ext>
            </a:extLst>
          </p:cNvPr>
          <p:cNvSpPr txBox="1"/>
          <p:nvPr/>
        </p:nvSpPr>
        <p:spPr>
          <a:xfrm>
            <a:off x="6973068" y="5261274"/>
            <a:ext cx="4463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Mobilalkalmazás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7BBD4BE5-8761-8DE4-AD87-4B2E25DD4DDC}"/>
              </a:ext>
            </a:extLst>
          </p:cNvPr>
          <p:cNvSpPr txBox="1"/>
          <p:nvPr/>
        </p:nvSpPr>
        <p:spPr>
          <a:xfrm>
            <a:off x="6996239" y="2872587"/>
            <a:ext cx="510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err="1"/>
              <a:t>Admin</a:t>
            </a:r>
            <a:r>
              <a:rPr lang="hu-HU" sz="2400" dirty="0"/>
              <a:t> statisztikai rendszer</a:t>
            </a:r>
          </a:p>
        </p:txBody>
      </p:sp>
    </p:spTree>
    <p:extLst>
      <p:ext uri="{BB962C8B-B14F-4D97-AF65-F5344CB8AC3E}">
        <p14:creationId xmlns:p14="http://schemas.microsoft.com/office/powerpoint/2010/main" val="33782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FB5E46-AE25-DE6C-EE85-75131402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890" y="891802"/>
            <a:ext cx="8718877" cy="3036061"/>
          </a:xfrm>
        </p:spPr>
        <p:txBody>
          <a:bodyPr>
            <a:normAutofit/>
          </a:bodyPr>
          <a:lstStyle/>
          <a:p>
            <a:pPr algn="ctr"/>
            <a:r>
              <a:rPr lang="hu-HU" sz="4800" dirty="0"/>
              <a:t>Köszönöm a figyelmet!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E57975-4464-61CD-8BDE-F480A4963E7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853257" y="3927863"/>
            <a:ext cx="8156579" cy="548968"/>
          </a:xfrm>
        </p:spPr>
        <p:txBody>
          <a:bodyPr>
            <a:normAutofit/>
          </a:bodyPr>
          <a:lstStyle/>
          <a:p>
            <a:r>
              <a:rPr lang="hu-HU" sz="1800" dirty="0"/>
              <a:t>Szívesen válaszolunk a kérdésekre.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4926F84-554C-D5E8-0A8D-7569ACC0B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Értékmentő - Kemény Benedek, Papp Bence</a:t>
            </a:r>
          </a:p>
        </p:txBody>
      </p:sp>
    </p:spTree>
    <p:extLst>
      <p:ext uri="{BB962C8B-B14F-4D97-AF65-F5344CB8AC3E}">
        <p14:creationId xmlns:p14="http://schemas.microsoft.com/office/powerpoint/2010/main" val="331829193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463</TotalTime>
  <Words>338</Words>
  <Application>Microsoft Office PowerPoint</Application>
  <PresentationFormat>Szélesvásznú</PresentationFormat>
  <Paragraphs>71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Berlin</vt:lpstr>
      <vt:lpstr>Értékmentő</vt:lpstr>
      <vt:lpstr>Mi az Értékmentő?</vt:lpstr>
      <vt:lpstr>Honnan jött az ötlet?</vt:lpstr>
      <vt:lpstr>Felépítés</vt:lpstr>
      <vt:lpstr>Adatbázisz szerkezet</vt:lpstr>
      <vt:lpstr>Funkciók</vt:lpstr>
      <vt:lpstr>Igénylés folyamata</vt:lpstr>
      <vt:lpstr>Igénylési limit rendszer</vt:lpstr>
      <vt:lpstr>Tesztelések és ellenőrzés</vt:lpstr>
      <vt:lpstr>Csapatmunka</vt:lpstr>
      <vt:lpstr>Kihívások és megoldások</vt:lpstr>
      <vt:lpstr>Fejlesztési lehetőségek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Benedek Kemény</dc:creator>
  <cp:lastModifiedBy>Benedek Kemény</cp:lastModifiedBy>
  <cp:revision>25</cp:revision>
  <dcterms:created xsi:type="dcterms:W3CDTF">2026-04-15T20:11:31Z</dcterms:created>
  <dcterms:modified xsi:type="dcterms:W3CDTF">2026-04-17T09:42:14Z</dcterms:modified>
</cp:coreProperties>
</file>